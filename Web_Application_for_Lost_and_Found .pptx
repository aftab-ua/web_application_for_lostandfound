
<file path=[Content_Types].xml><?xml version="1.0" encoding="utf-8"?>
<Types xmlns="http://schemas.openxmlformats.org/package/2006/content-types">
  <Default Extension="xml" ContentType="application/xml"/>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handoutMasterIdLst>
    <p:handoutMasterId r:id="rId27"/>
  </p:handoutMasterIdLst>
  <p:sldIdLst>
    <p:sldId id="256" r:id="rId2"/>
    <p:sldId id="257" r:id="rId3"/>
    <p:sldId id="258" r:id="rId4"/>
    <p:sldId id="294" r:id="rId5"/>
    <p:sldId id="259" r:id="rId6"/>
    <p:sldId id="295" r:id="rId7"/>
    <p:sldId id="279" r:id="rId8"/>
    <p:sldId id="260" r:id="rId9"/>
    <p:sldId id="261" r:id="rId10"/>
    <p:sldId id="284" r:id="rId11"/>
    <p:sldId id="286" r:id="rId12"/>
    <p:sldId id="274" r:id="rId13"/>
    <p:sldId id="262" r:id="rId14"/>
    <p:sldId id="277" r:id="rId15"/>
    <p:sldId id="278" r:id="rId16"/>
    <p:sldId id="289" r:id="rId17"/>
    <p:sldId id="298" r:id="rId18"/>
    <p:sldId id="291" r:id="rId19"/>
    <p:sldId id="290" r:id="rId20"/>
    <p:sldId id="292" r:id="rId21"/>
    <p:sldId id="293" r:id="rId22"/>
    <p:sldId id="270" r:id="rId23"/>
    <p:sldId id="271" r:id="rId24"/>
    <p:sldId id="272" r:id="rId2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89"/>
    <p:restoredTop sz="36882"/>
  </p:normalViewPr>
  <p:slideViewPr>
    <p:cSldViewPr snapToGrid="0">
      <p:cViewPr>
        <p:scale>
          <a:sx n="64" d="100"/>
          <a:sy n="64" d="100"/>
        </p:scale>
        <p:origin x="324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FDB32314-A268-4E32-B8E4-F6389A7459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4F3F506E-52CC-4F22-A116-A75FA0FBA3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D84384-F5B4-4713-BFBB-9A8B215811FC}" type="datetime1">
              <a:rPr lang="en-US" smtClean="0"/>
              <a:t>6/12/20</a:t>
            </a:fld>
            <a:endParaRPr lang="en-US"/>
          </a:p>
        </p:txBody>
      </p:sp>
      <p:sp>
        <p:nvSpPr>
          <p:cNvPr id="4" name="Footer Placeholder 3">
            <a:extLst>
              <a:ext uri="{FF2B5EF4-FFF2-40B4-BE49-F238E27FC236}">
                <a16:creationId xmlns:a16="http://schemas.microsoft.com/office/drawing/2014/main" xmlns="" id="{AB49D0A8-664F-4E13-A298-8A80BB524F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6526386B-CEF1-4D46-96E7-35911A7E2E9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9A4171-31EA-44C0-96C1-AB95E3B723F9}" type="slidenum">
              <a:rPr lang="en-US" smtClean="0"/>
              <a:t>‹#›</a:t>
            </a:fld>
            <a:endParaRPr lang="en-US"/>
          </a:p>
        </p:txBody>
      </p:sp>
    </p:spTree>
    <p:extLst>
      <p:ext uri="{BB962C8B-B14F-4D97-AF65-F5344CB8AC3E}">
        <p14:creationId xmlns:p14="http://schemas.microsoft.com/office/powerpoint/2010/main" val="3225560962"/>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79747628"/>
      </p:ext>
    </p:extLst>
  </p:cSld>
  <p:clrMap bg1="lt1" tx1="dk1" bg2="dk2" tx2="lt2" accent1="accent1" accent2="accent2" accent3="accent3" accent4="accent4" accent5="accent5" accent6="accent6" hlink="hlink" folHlink="folHlink"/>
  <p:hf ft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Hello </a:t>
            </a:r>
            <a:r>
              <a:rPr lang="en-US" sz="1100" b="0" i="0" u="none" strike="noStrike" cap="none" dirty="0" err="1">
                <a:solidFill>
                  <a:srgbClr val="000000"/>
                </a:solidFill>
                <a:effectLst/>
                <a:latin typeface="Arial"/>
                <a:ea typeface="Arial"/>
                <a:cs typeface="Arial"/>
                <a:sym typeface="Arial"/>
              </a:rPr>
              <a:t>laoshimen</a:t>
            </a:r>
            <a:r>
              <a:rPr lang="en-US" sz="1100" b="0" i="0" u="none" strike="noStrike" cap="none" dirty="0">
                <a:solidFill>
                  <a:srgbClr val="000000"/>
                </a:solidFill>
                <a:effectLst/>
                <a:latin typeface="Arial"/>
                <a:ea typeface="Arial"/>
                <a:cs typeface="Arial"/>
                <a:sym typeface="Arial"/>
              </a:rPr>
              <a:t>, A pleasant morning to you all. At a time of global crisis, hope you are staying safe and well. I am very happy to have this chance to give my presentation. Before I start my presentation, let me introduce myself first. My name is MD Aftab Uddin student ID: 42, I am from Bangladesh. Today I will share my research with you and the title of my thesis presentation is Web application for Lost and Found which is supervised by Our honorable Teacher by Dr Chen </a:t>
            </a:r>
            <a:r>
              <a:rPr lang="en-US" sz="1100" b="0" i="0" u="none" strike="noStrike" cap="none" dirty="0" err="1">
                <a:solidFill>
                  <a:srgbClr val="000000"/>
                </a:solidFill>
                <a:effectLst/>
                <a:latin typeface="Arial"/>
                <a:ea typeface="Arial"/>
                <a:cs typeface="Arial"/>
                <a:sym typeface="Arial"/>
              </a:rPr>
              <a:t>Jianjun</a:t>
            </a:r>
            <a:r>
              <a:rPr lang="en-US" sz="1100" b="0" i="0" u="none" strike="noStrike" cap="none" dirty="0">
                <a:solidFill>
                  <a:srgbClr val="000000"/>
                </a:solidFill>
                <a:effectLst/>
                <a:latin typeface="Arial"/>
                <a:ea typeface="Arial"/>
                <a:cs typeface="Arial"/>
                <a:sym typeface="Arial"/>
              </a:rPr>
              <a:t> special thanks to him because without his help it was impossible to create this system He help me a lot all the time. Okay Lets talk about overview of my project.</a:t>
            </a:r>
            <a:endParaRPr dirty="0"/>
          </a:p>
        </p:txBody>
      </p:sp>
    </p:spTree>
    <p:extLst>
      <p:ext uri="{BB962C8B-B14F-4D97-AF65-F5344CB8AC3E}">
        <p14:creationId xmlns:p14="http://schemas.microsoft.com/office/powerpoint/2010/main" val="301871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1" indent="0" algn="l" rtl="0">
              <a:spcBef>
                <a:spcPts val="0"/>
              </a:spcBef>
              <a:spcAft>
                <a:spcPts val="0"/>
              </a:spcAft>
              <a:buNone/>
            </a:pPr>
            <a:r>
              <a:rPr lang="en-US" sz="1400" dirty="0"/>
              <a:t>In computing, a web application or web app is a client–server software application which the client or user runs in a web browser. Web applications are getting popular these days as they can be accessed from anywhere using a web browser and the convenience of using a web browser as a client to update and maintain web applications without distributing and installing software. Common web applications include webmail, online retail sales, online auctions, wikis, instant messaging services and many other functions. In this project, a web-based distributed lost-and-found service for society, </a:t>
            </a:r>
          </a:p>
          <a:p>
            <a:pPr marL="0" lvl="0" indent="0" algn="l" rtl="0">
              <a:spcBef>
                <a:spcPts val="0"/>
              </a:spcBef>
              <a:spcAft>
                <a:spcPts val="0"/>
              </a:spcAft>
              <a:buNone/>
            </a:pPr>
            <a:r>
              <a:rPr lang="en-US" dirty="0"/>
              <a:t>So we can see lost and found is </a:t>
            </a:r>
            <a:endParaRPr dirty="0"/>
          </a:p>
        </p:txBody>
      </p:sp>
    </p:spTree>
    <p:extLst>
      <p:ext uri="{BB962C8B-B14F-4D97-AF65-F5344CB8AC3E}">
        <p14:creationId xmlns:p14="http://schemas.microsoft.com/office/powerpoint/2010/main" val="469389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Losing your personal belongings can be a very frustrating experience. But, with an effective lost and found system, all your important items like keys, mobile phones, digital cameras, laptops, wallets, </a:t>
            </a:r>
            <a:r>
              <a:rPr lang="en-US" sz="1100" b="0" i="0" u="none" strike="noStrike" cap="none" dirty="0" err="1">
                <a:solidFill>
                  <a:srgbClr val="000000"/>
                </a:solidFill>
                <a:effectLst/>
                <a:latin typeface="Arial"/>
                <a:ea typeface="Arial"/>
                <a:cs typeface="Arial"/>
                <a:sym typeface="Arial"/>
              </a:rPr>
              <a:t>i</a:t>
            </a:r>
            <a:r>
              <a:rPr lang="en-US" sz="1100" b="0" i="0" u="none" strike="noStrike" cap="none" dirty="0">
                <a:solidFill>
                  <a:srgbClr val="000000"/>
                </a:solidFill>
                <a:effectLst/>
                <a:latin typeface="Arial"/>
                <a:ea typeface="Arial"/>
                <a:cs typeface="Arial"/>
                <a:sym typeface="Arial"/>
              </a:rPr>
              <a:t>-pods, briefcases, handbags even a person, will find their way safely back to you. Therefore, I have decided as a final year project to design and develop a new Web-based Lost and Found System. </a:t>
            </a: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lvl="0" indent="0" algn="l" rtl="0">
              <a:spcBef>
                <a:spcPts val="0"/>
              </a:spcBef>
              <a:spcAft>
                <a:spcPts val="0"/>
              </a:spcAft>
              <a:buNone/>
            </a:pPr>
            <a:r>
              <a:rPr lang="en-US" dirty="0"/>
              <a:t>In the problem descriptions</a:t>
            </a:r>
            <a:endParaRPr dirty="0"/>
          </a:p>
        </p:txBody>
      </p:sp>
    </p:spTree>
    <p:extLst>
      <p:ext uri="{BB962C8B-B14F-4D97-AF65-F5344CB8AC3E}">
        <p14:creationId xmlns:p14="http://schemas.microsoft.com/office/powerpoint/2010/main" val="383342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Now we are going to the goal of the my project. The major goal of this project is to help the peoples with a web service to find their lost stuff more quickly. The application is an online lost and found web portal with an interactive user interface. It is a user-friendly web application which is created using web programming languages connected to the database. The project is designed using a client-server model. The main features of the web application include an authentication, registration and login system, a lost and found listings page where the user can enter the information about the lost and found items. Keeping in mind some security issues, the users cannot delete any items. The reason was some users may delete the items just to mess around. This privilege is given to the admin only. The application also allows the users to update the listed items if needed. The users can update the contact information and change the password. </a:t>
            </a: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771127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A use case diagram at its simplest is a representation of a user's interaction with the system that shows the relationship between the user and the different use cases in which the user is involved. A use case diagram can identify the different types of users of a system and the different use cases and will often be accompanied by other types of diagrams as well. The use cases are represented by either circles or ellipses. Here, as we can see 3 types of users 1 is admin 2</a:t>
            </a:r>
            <a:r>
              <a:rPr lang="en-US" baseline="30000" dirty="0"/>
              <a:t>nd</a:t>
            </a:r>
            <a:r>
              <a:rPr lang="en-US" dirty="0"/>
              <a:t> one is owner of the lost product and other one is Finder who found the product. From here we can see admin can interact with login, logout and verify post similarly owner and finder can interact with some system.</a:t>
            </a:r>
            <a:endParaRPr dirty="0"/>
          </a:p>
        </p:txBody>
      </p:sp>
    </p:spTree>
    <p:extLst>
      <p:ext uri="{BB962C8B-B14F-4D97-AF65-F5344CB8AC3E}">
        <p14:creationId xmlns:p14="http://schemas.microsoft.com/office/powerpoint/2010/main" val="3205371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Sequence Diagrams are interaction diagrams that detail how operations are carried out. They capture the interaction between objects in the context of a collaboration. Sequence Diagrams are time focus and they show the order of the interaction visually by using the vertical axis of the diagram to represent time what messages are sent and when. Here we can see if user wants to interact with system user should provide some information to system like (name, username. email) and system will do some operation and give the output to user similarly admin login</a:t>
            </a:r>
            <a:endParaRPr dirty="0"/>
          </a:p>
        </p:txBody>
      </p:sp>
    </p:spTree>
    <p:extLst>
      <p:ext uri="{BB962C8B-B14F-4D97-AF65-F5344CB8AC3E}">
        <p14:creationId xmlns:p14="http://schemas.microsoft.com/office/powerpoint/2010/main" val="2836188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88752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0807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Activity diagram is another important diagram in UML to describe the dynamic aspects of the system.</a:t>
            </a:r>
          </a:p>
          <a:p>
            <a:pPr marL="0" lvl="0" indent="0" algn="l" rtl="0">
              <a:spcBef>
                <a:spcPts val="0"/>
              </a:spcBef>
              <a:spcAft>
                <a:spcPts val="0"/>
              </a:spcAft>
              <a:buNone/>
            </a:pPr>
            <a:r>
              <a:rPr lang="en-US" dirty="0"/>
              <a:t>Activity diagram is basically a flowchart to represent the flow from one activity to another activity. The activity can be described as an operation of the system.</a:t>
            </a:r>
          </a:p>
          <a:p>
            <a:pPr marL="0" lvl="0" indent="0" algn="l" rtl="0">
              <a:spcBef>
                <a:spcPts val="0"/>
              </a:spcBef>
              <a:spcAft>
                <a:spcPts val="0"/>
              </a:spcAft>
              <a:buNone/>
            </a:pPr>
            <a:r>
              <a:rPr lang="en-US" dirty="0"/>
              <a:t>The control flow is drawn from one operation to another. This flow can be sequential, branched, or concurrent. Activity diagrams deal with all type of flow control by using different elements such as fork, join, </a:t>
            </a:r>
            <a:r>
              <a:rPr lang="en-US" dirty="0" err="1"/>
              <a:t>etc</a:t>
            </a: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866284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9336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1862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1" i="0" u="none" strike="noStrike" cap="none" dirty="0">
                <a:solidFill>
                  <a:srgbClr val="000000"/>
                </a:solidFill>
                <a:effectLst/>
                <a:latin typeface="Arial"/>
                <a:ea typeface="Arial"/>
                <a:cs typeface="Arial"/>
                <a:sym typeface="Arial"/>
              </a:rPr>
              <a:t>ENTITY RELATIONAL (ER) MODEL</a:t>
            </a:r>
            <a:r>
              <a:rPr lang="en-US" sz="1100" b="0" i="0" u="none" strike="noStrike" cap="none" dirty="0">
                <a:solidFill>
                  <a:srgbClr val="000000"/>
                </a:solidFill>
                <a:effectLst/>
                <a:latin typeface="Arial"/>
                <a:ea typeface="Arial"/>
                <a:cs typeface="Arial"/>
                <a:sym typeface="Arial"/>
              </a:rPr>
              <a:t> is a high-level conceptual data model diagram. ER modeling helps you to analyze data requirements systematically to produce a well-designed database. The Entity-Relation model represents real-world entities and the relationship between them. It is considered a best practice to complete ER modeling before implementing your database.</a:t>
            </a:r>
          </a:p>
          <a:p>
            <a:r>
              <a:rPr lang="en-US" sz="1100" b="0" i="0" u="none" strike="noStrike" cap="none" dirty="0">
                <a:solidFill>
                  <a:srgbClr val="000000"/>
                </a:solidFill>
                <a:effectLst/>
                <a:latin typeface="Arial"/>
                <a:ea typeface="Arial"/>
                <a:cs typeface="Arial"/>
                <a:sym typeface="Arial"/>
              </a:rPr>
              <a:t>ER modeling helps you to analyze data requirements systematically to produce a well-designed database. So, it is considered a best practice to complete ER modeling before implementing your database.</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 the following diagram we have several entities and for this  item and my user and their relationship. The relationship between item and my user is many to one as a use can have items however a Item entity has attributes such as </a:t>
            </a:r>
            <a:r>
              <a:rPr lang="en-US" sz="1100" b="0" i="0" u="none" strike="noStrike" cap="none" dirty="0" err="1">
                <a:solidFill>
                  <a:srgbClr val="000000"/>
                </a:solidFill>
                <a:effectLst/>
                <a:latin typeface="Arial"/>
                <a:ea typeface="Arial"/>
                <a:cs typeface="Arial"/>
                <a:sym typeface="Arial"/>
              </a:rPr>
              <a:t>user_Id,Name</a:t>
            </a:r>
            <a:r>
              <a:rPr lang="en-US" sz="1100" b="0" i="0" u="none" strike="noStrike" cap="none" dirty="0">
                <a:solidFill>
                  <a:srgbClr val="000000"/>
                </a:solidFill>
                <a:effectLst/>
                <a:latin typeface="Arial"/>
                <a:ea typeface="Arial"/>
                <a:cs typeface="Arial"/>
                <a:sym typeface="Arial"/>
              </a:rPr>
              <a:t> &amp; Location and much more and </a:t>
            </a:r>
            <a:r>
              <a:rPr lang="en-US" sz="1100" b="0" i="0" u="none" strike="noStrike" cap="none" dirty="0" err="1">
                <a:solidFill>
                  <a:srgbClr val="000000"/>
                </a:solidFill>
                <a:effectLst/>
                <a:latin typeface="Arial"/>
                <a:ea typeface="Arial"/>
                <a:cs typeface="Arial"/>
                <a:sym typeface="Arial"/>
              </a:rPr>
              <a:t>myuser</a:t>
            </a:r>
            <a:r>
              <a:rPr lang="en-US" sz="1100" b="0" i="0" u="none" strike="noStrike" cap="none" dirty="0">
                <a:solidFill>
                  <a:srgbClr val="000000"/>
                </a:solidFill>
                <a:effectLst/>
                <a:latin typeface="Arial"/>
                <a:ea typeface="Arial"/>
                <a:cs typeface="Arial"/>
                <a:sym typeface="Arial"/>
              </a:rPr>
              <a:t> entity has attributes such as ID &amp; Gmail and much more.</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Rectangle</a:t>
            </a:r>
            <a:r>
              <a:rPr lang="en-US" sz="1100" b="0" i="0" u="none" strike="noStrike" cap="none" dirty="0">
                <a:solidFill>
                  <a:srgbClr val="000000"/>
                </a:solidFill>
                <a:effectLst/>
                <a:latin typeface="Arial"/>
                <a:ea typeface="Arial"/>
                <a:cs typeface="Arial"/>
                <a:sym typeface="Arial"/>
              </a:rPr>
              <a:t>: Represents Entity sets.</a:t>
            </a:r>
            <a:r>
              <a:rPr lang="en-US" dirty="0"/>
              <a:t/>
            </a:r>
            <a:br>
              <a:rPr lang="en-US" dirty="0"/>
            </a:br>
            <a:r>
              <a:rPr lang="en-US" sz="1100" b="1" i="0" u="none" strike="noStrike" cap="none" dirty="0">
                <a:solidFill>
                  <a:srgbClr val="000000"/>
                </a:solidFill>
                <a:effectLst/>
                <a:latin typeface="Arial"/>
                <a:ea typeface="Arial"/>
                <a:cs typeface="Arial"/>
                <a:sym typeface="Arial"/>
              </a:rPr>
              <a:t>Ellipses</a:t>
            </a:r>
            <a:r>
              <a:rPr lang="en-US" sz="1100" b="0" i="0" u="none" strike="noStrike" cap="none" dirty="0">
                <a:solidFill>
                  <a:srgbClr val="000000"/>
                </a:solidFill>
                <a:effectLst/>
                <a:latin typeface="Arial"/>
                <a:ea typeface="Arial"/>
                <a:cs typeface="Arial"/>
                <a:sym typeface="Arial"/>
              </a:rPr>
              <a:t>: Attributes</a:t>
            </a:r>
            <a:r>
              <a:rPr lang="en-US" dirty="0"/>
              <a:t/>
            </a:r>
            <a:br>
              <a:rPr lang="en-US" dirty="0"/>
            </a:br>
            <a:r>
              <a:rPr lang="en-US" sz="1100" b="1" i="0" u="none" strike="noStrike" cap="none" dirty="0">
                <a:solidFill>
                  <a:srgbClr val="000000"/>
                </a:solidFill>
                <a:effectLst/>
                <a:latin typeface="Arial"/>
                <a:ea typeface="Arial"/>
                <a:cs typeface="Arial"/>
                <a:sym typeface="Arial"/>
              </a:rPr>
              <a:t>Diamonds</a:t>
            </a:r>
            <a:r>
              <a:rPr lang="en-US" sz="1100" b="0" i="0" u="none" strike="noStrike" cap="none" dirty="0">
                <a:solidFill>
                  <a:srgbClr val="000000"/>
                </a:solidFill>
                <a:effectLst/>
                <a:latin typeface="Arial"/>
                <a:ea typeface="Arial"/>
                <a:cs typeface="Arial"/>
                <a:sym typeface="Arial"/>
              </a:rPr>
              <a:t>: Relationship Set</a:t>
            </a:r>
            <a:r>
              <a:rPr lang="en-US" dirty="0"/>
              <a:t/>
            </a:r>
            <a:br>
              <a:rPr lang="en-US" dirty="0"/>
            </a:br>
            <a:r>
              <a:rPr lang="en-US" sz="1100" b="1" i="0" u="none" strike="noStrike" cap="none" dirty="0">
                <a:solidFill>
                  <a:srgbClr val="000000"/>
                </a:solidFill>
                <a:effectLst/>
                <a:latin typeface="Arial"/>
                <a:ea typeface="Arial"/>
                <a:cs typeface="Arial"/>
                <a:sym typeface="Arial"/>
              </a:rPr>
              <a:t>Lines</a:t>
            </a:r>
            <a:r>
              <a:rPr lang="en-US" sz="1100" b="0" i="0" u="none" strike="noStrike" cap="none" dirty="0">
                <a:solidFill>
                  <a:srgbClr val="000000"/>
                </a:solidFill>
                <a:effectLst/>
                <a:latin typeface="Arial"/>
                <a:ea typeface="Arial"/>
                <a:cs typeface="Arial"/>
                <a:sym typeface="Arial"/>
              </a:rPr>
              <a:t>: They link attributes to Entity Sets and Entity sets to Relationship Set</a:t>
            </a:r>
            <a:endParaRPr dirty="0"/>
          </a:p>
        </p:txBody>
      </p:sp>
    </p:spTree>
    <p:extLst>
      <p:ext uri="{BB962C8B-B14F-4D97-AF65-F5344CB8AC3E}">
        <p14:creationId xmlns:p14="http://schemas.microsoft.com/office/powerpoint/2010/main" val="3517275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we will see my project in the live server and test with some data.</a:t>
            </a:r>
            <a:endParaRPr dirty="0"/>
          </a:p>
        </p:txBody>
      </p:sp>
    </p:spTree>
    <p:extLst>
      <p:ext uri="{BB962C8B-B14F-4D97-AF65-F5344CB8AC3E}">
        <p14:creationId xmlns:p14="http://schemas.microsoft.com/office/powerpoint/2010/main" val="956181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787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89276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85610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3557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207037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25567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8365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1701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40686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If there are any questions feel free to ask me thanks..</a:t>
            </a:r>
            <a:endParaRPr dirty="0"/>
          </a:p>
        </p:txBody>
      </p:sp>
    </p:spTree>
    <p:extLst>
      <p:ext uri="{BB962C8B-B14F-4D97-AF65-F5344CB8AC3E}">
        <p14:creationId xmlns:p14="http://schemas.microsoft.com/office/powerpoint/2010/main" val="24343316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4aabdcf0aa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4aabdcf0a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Questions to Md. Md Aftab Uddin (162910701142)(title: Web Application for Lost and Found)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1. How to get the ER Diagram showed in section 4.3?   </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 the following diagram we have several entities and for this  item and my user and their relationship. The relationship between item and my user is many to one as a use can have items however a Item entity has attributes such as </a:t>
            </a:r>
            <a:r>
              <a:rPr lang="en-US" sz="1100" b="0" i="0" u="none" strike="noStrike" cap="none" dirty="0" err="1">
                <a:solidFill>
                  <a:srgbClr val="000000"/>
                </a:solidFill>
                <a:effectLst/>
                <a:latin typeface="Arial"/>
                <a:ea typeface="Arial"/>
                <a:cs typeface="Arial"/>
                <a:sym typeface="Arial"/>
              </a:rPr>
              <a:t>user_Id,Name</a:t>
            </a:r>
            <a:r>
              <a:rPr lang="en-US" sz="1100" b="0" i="0" u="none" strike="noStrike" cap="none" dirty="0">
                <a:solidFill>
                  <a:srgbClr val="000000"/>
                </a:solidFill>
                <a:effectLst/>
                <a:latin typeface="Arial"/>
                <a:ea typeface="Arial"/>
                <a:cs typeface="Arial"/>
                <a:sym typeface="Arial"/>
              </a:rPr>
              <a:t> &amp; Location and much more and </a:t>
            </a:r>
            <a:r>
              <a:rPr lang="en-US" sz="1100" b="0" i="0" u="none" strike="noStrike" cap="none" dirty="0" err="1">
                <a:solidFill>
                  <a:srgbClr val="000000"/>
                </a:solidFill>
                <a:effectLst/>
                <a:latin typeface="Arial"/>
                <a:ea typeface="Arial"/>
                <a:cs typeface="Arial"/>
                <a:sym typeface="Arial"/>
              </a:rPr>
              <a:t>myuser</a:t>
            </a:r>
            <a:r>
              <a:rPr lang="en-US" sz="1100" b="0" i="0" u="none" strike="noStrike" cap="none" dirty="0">
                <a:solidFill>
                  <a:srgbClr val="000000"/>
                </a:solidFill>
                <a:effectLst/>
                <a:latin typeface="Arial"/>
                <a:ea typeface="Arial"/>
                <a:cs typeface="Arial"/>
                <a:sym typeface="Arial"/>
              </a:rPr>
              <a:t> entity has attributes such as ID &amp; Gmail and much more.</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Rectangle</a:t>
            </a:r>
            <a:r>
              <a:rPr lang="en-US" sz="1100" b="0" i="0" u="none" strike="noStrike" cap="none" dirty="0">
                <a:solidFill>
                  <a:srgbClr val="000000"/>
                </a:solidFill>
                <a:effectLst/>
                <a:latin typeface="Arial"/>
                <a:ea typeface="Arial"/>
                <a:cs typeface="Arial"/>
                <a:sym typeface="Arial"/>
              </a:rPr>
              <a:t>: Represents Entity sets.</a:t>
            </a:r>
            <a:r>
              <a:rPr lang="en-US" dirty="0"/>
              <a:t/>
            </a:r>
            <a:br>
              <a:rPr lang="en-US" dirty="0"/>
            </a:br>
            <a:r>
              <a:rPr lang="en-US" sz="1100" b="1" i="0" u="none" strike="noStrike" cap="none" dirty="0">
                <a:solidFill>
                  <a:srgbClr val="000000"/>
                </a:solidFill>
                <a:effectLst/>
                <a:latin typeface="Arial"/>
                <a:ea typeface="Arial"/>
                <a:cs typeface="Arial"/>
                <a:sym typeface="Arial"/>
              </a:rPr>
              <a:t>Ellipses</a:t>
            </a:r>
            <a:r>
              <a:rPr lang="en-US" sz="1100" b="0" i="0" u="none" strike="noStrike" cap="none" dirty="0">
                <a:solidFill>
                  <a:srgbClr val="000000"/>
                </a:solidFill>
                <a:effectLst/>
                <a:latin typeface="Arial"/>
                <a:ea typeface="Arial"/>
                <a:cs typeface="Arial"/>
                <a:sym typeface="Arial"/>
              </a:rPr>
              <a:t>: Attributes</a:t>
            </a:r>
            <a:r>
              <a:rPr lang="en-US" dirty="0"/>
              <a:t/>
            </a:r>
            <a:br>
              <a:rPr lang="en-US" dirty="0"/>
            </a:br>
            <a:r>
              <a:rPr lang="en-US" sz="1100" b="1" i="0" u="none" strike="noStrike" cap="none" dirty="0">
                <a:solidFill>
                  <a:srgbClr val="000000"/>
                </a:solidFill>
                <a:effectLst/>
                <a:latin typeface="Arial"/>
                <a:ea typeface="Arial"/>
                <a:cs typeface="Arial"/>
                <a:sym typeface="Arial"/>
              </a:rPr>
              <a:t>Diamonds</a:t>
            </a:r>
            <a:r>
              <a:rPr lang="en-US" sz="1100" b="0" i="0" u="none" strike="noStrike" cap="none" dirty="0">
                <a:solidFill>
                  <a:srgbClr val="000000"/>
                </a:solidFill>
                <a:effectLst/>
                <a:latin typeface="Arial"/>
                <a:ea typeface="Arial"/>
                <a:cs typeface="Arial"/>
                <a:sym typeface="Arial"/>
              </a:rPr>
              <a:t>: Relationship Set</a:t>
            </a:r>
            <a:r>
              <a:rPr lang="en-US" dirty="0"/>
              <a:t/>
            </a:r>
            <a:br>
              <a:rPr lang="en-US" dirty="0"/>
            </a:br>
            <a:r>
              <a:rPr lang="en-US" sz="1100" b="1" i="0" u="none" strike="noStrike" cap="none" dirty="0">
                <a:solidFill>
                  <a:srgbClr val="000000"/>
                </a:solidFill>
                <a:effectLst/>
                <a:latin typeface="Arial"/>
                <a:ea typeface="Arial"/>
                <a:cs typeface="Arial"/>
                <a:sym typeface="Arial"/>
              </a:rPr>
              <a:t>Lines</a:t>
            </a:r>
            <a:r>
              <a:rPr lang="en-US" sz="1100" b="0" i="0" u="none" strike="noStrike" cap="none" dirty="0">
                <a:solidFill>
                  <a:srgbClr val="000000"/>
                </a:solidFill>
                <a:effectLst/>
                <a:latin typeface="Arial"/>
                <a:ea typeface="Arial"/>
                <a:cs typeface="Arial"/>
                <a:sym typeface="Arial"/>
              </a:rPr>
              <a:t>: They link attributes to Entity Sets and Entity sets to Relationship Set</a:t>
            </a:r>
            <a:endParaRPr lang="en-US" dirty="0"/>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2. If a user returns a valuable lost thing, he can win reward. Who gives the reward to user here? </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Well good question </a:t>
            </a:r>
            <a:r>
              <a:rPr lang="en-US" sz="1100" b="0" i="0" u="none" strike="noStrike" cap="none" dirty="0" err="1">
                <a:solidFill>
                  <a:srgbClr val="000000"/>
                </a:solidFill>
                <a:effectLst/>
                <a:latin typeface="Arial"/>
                <a:ea typeface="Arial"/>
                <a:cs typeface="Arial"/>
                <a:sym typeface="Arial"/>
              </a:rPr>
              <a:t>laoshi</a:t>
            </a:r>
            <a:r>
              <a:rPr lang="en-US" sz="1100" b="0" i="0" u="none" strike="noStrike" cap="none" dirty="0">
                <a:solidFill>
                  <a:srgbClr val="000000"/>
                </a:solidFill>
                <a:effectLst/>
                <a:latin typeface="Arial"/>
                <a:ea typeface="Arial"/>
                <a:cs typeface="Arial"/>
                <a:sym typeface="Arial"/>
              </a:rPr>
              <a:t>, defiantly the owner of the product will give the reward through admin or software owner. Because if anyone gets returns expensive things or person must product will be happy and he willing to give the reward to finder. </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3. In my opinion, in this thesis you built a lost and found platform. When a user wants to find a thing that he lost, does it verify the identity of this user?</a:t>
            </a:r>
          </a:p>
          <a:p>
            <a:pPr marL="0" lvl="0" indent="0" algn="l" rtl="0">
              <a:spcBef>
                <a:spcPts val="0"/>
              </a:spcBef>
              <a:spcAft>
                <a:spcPts val="0"/>
              </a:spcAft>
              <a:buNone/>
            </a:pPr>
            <a:r>
              <a:rPr lang="en-US" sz="1100" b="0" i="0" u="none" strike="noStrike" cap="none" dirty="0">
                <a:solidFill>
                  <a:srgbClr val="000000"/>
                </a:solidFill>
                <a:effectLst/>
                <a:latin typeface="Arial"/>
                <a:cs typeface="Arial"/>
                <a:sym typeface="Arial"/>
              </a:rPr>
              <a:t>Well, if anyone lost the product he or she can post on this system with some informative data. for this he or she should sing up and login into the system. When if anyone wants signup into the system he or she should provide some information after that when he or she wants to post into the system also should provide some general and </a:t>
            </a:r>
            <a:r>
              <a:rPr lang="en-US" sz="1100" b="0" i="0" u="none" strike="noStrike" cap="none" dirty="0" err="1">
                <a:solidFill>
                  <a:srgbClr val="000000"/>
                </a:solidFill>
                <a:effectLst/>
                <a:latin typeface="Arial"/>
                <a:cs typeface="Arial"/>
                <a:sym typeface="Arial"/>
              </a:rPr>
              <a:t>sciret</a:t>
            </a:r>
            <a:r>
              <a:rPr lang="en-US" sz="1100" b="0" i="0" u="none" strike="noStrike" cap="none" dirty="0">
                <a:solidFill>
                  <a:srgbClr val="000000"/>
                </a:solidFill>
                <a:effectLst/>
                <a:latin typeface="Arial"/>
                <a:cs typeface="Arial"/>
                <a:sym typeface="Arial"/>
              </a:rPr>
              <a:t> information. Using this information and admin can easily  </a:t>
            </a:r>
            <a:r>
              <a:rPr lang="en-US" sz="1100" b="0" i="0" u="none" strike="noStrike" cap="none" dirty="0">
                <a:solidFill>
                  <a:srgbClr val="000000"/>
                </a:solidFill>
                <a:effectLst/>
                <a:latin typeface="Arial"/>
                <a:ea typeface="Arial"/>
                <a:cs typeface="Arial"/>
                <a:sym typeface="Arial"/>
              </a:rPr>
              <a:t>verify the identity the user.</a:t>
            </a: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466593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lstStyle>
            <a:lvl1pPr marL="457200" lvl="0" indent="-311150" algn="ctr">
              <a:spcBef>
                <a:spcPts val="0"/>
              </a:spcBef>
              <a:spcAft>
                <a:spcPts val="0"/>
              </a:spcAft>
              <a:buSzPts val="1300"/>
              <a:buChar char="●"/>
              <a:defRPr/>
            </a:lvl1pPr>
            <a:lvl2pPr marL="914400" lvl="1" indent="-298450" algn="ctr">
              <a:spcBef>
                <a:spcPts val="1600"/>
              </a:spcBef>
              <a:spcAft>
                <a:spcPts val="0"/>
              </a:spcAft>
              <a:buSzPts val="1100"/>
              <a:buChar char="○"/>
              <a:defRPr/>
            </a:lvl2pPr>
            <a:lvl3pPr marL="1371600" lvl="2" indent="-298450" algn="ctr">
              <a:spcBef>
                <a:spcPts val="1600"/>
              </a:spcBef>
              <a:spcAft>
                <a:spcPts val="0"/>
              </a:spcAft>
              <a:buSzPts val="1100"/>
              <a:buChar char="■"/>
              <a:defRPr/>
            </a:lvl3pPr>
            <a:lvl4pPr marL="1828800" lvl="3" indent="-298450" algn="ctr">
              <a:spcBef>
                <a:spcPts val="1600"/>
              </a:spcBef>
              <a:spcAft>
                <a:spcPts val="0"/>
              </a:spcAft>
              <a:buSzPts val="1100"/>
              <a:buChar char="●"/>
              <a:defRPr/>
            </a:lvl4pPr>
            <a:lvl5pPr marL="2286000" lvl="4" indent="-298450" algn="ctr">
              <a:spcBef>
                <a:spcPts val="1600"/>
              </a:spcBef>
              <a:spcAft>
                <a:spcPts val="0"/>
              </a:spcAft>
              <a:buSzPts val="1100"/>
              <a:buChar char="○"/>
              <a:defRPr/>
            </a:lvl5pPr>
            <a:lvl6pPr marL="2743200" lvl="5" indent="-298450" algn="ctr">
              <a:spcBef>
                <a:spcPts val="1600"/>
              </a:spcBef>
              <a:spcAft>
                <a:spcPts val="0"/>
              </a:spcAft>
              <a:buSzPts val="1100"/>
              <a:buChar char="■"/>
              <a:defRPr/>
            </a:lvl6pPr>
            <a:lvl7pPr marL="3200400" lvl="6" indent="-298450" algn="ctr">
              <a:spcBef>
                <a:spcPts val="1600"/>
              </a:spcBef>
              <a:spcAft>
                <a:spcPts val="0"/>
              </a:spcAft>
              <a:buSzPts val="1100"/>
              <a:buChar char="●"/>
              <a:defRPr/>
            </a:lvl7pPr>
            <a:lvl8pPr marL="3657600" lvl="7" indent="-298450" algn="ctr">
              <a:spcBef>
                <a:spcPts val="1600"/>
              </a:spcBef>
              <a:spcAft>
                <a:spcPts val="0"/>
              </a:spcAft>
              <a:buSzPts val="1100"/>
              <a:buChar char="○"/>
              <a:defRPr/>
            </a:lvl8pPr>
            <a:lvl9pPr marL="4114800" lvl="8" indent="-298450" algn="ctr">
              <a:spcBef>
                <a:spcPts val="1600"/>
              </a:spcBef>
              <a:spcAft>
                <a:spcPts val="160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1600"/>
              </a:spcBef>
              <a:spcAft>
                <a:spcPts val="160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4" Type="http://schemas.openxmlformats.org/officeDocument/2006/relationships/image" Target="../media/image4.jp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p:nvPr/>
        </p:nvSpPr>
        <p:spPr>
          <a:xfrm>
            <a:off x="581186" y="2832512"/>
            <a:ext cx="4131804" cy="1045335"/>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dirty="0">
                <a:solidFill>
                  <a:schemeClr val="tx2">
                    <a:lumMod val="50000"/>
                  </a:schemeClr>
                </a:solidFill>
                <a:latin typeface="Times New Roman" panose="02020603050405020304" pitchFamily="18" charset="0"/>
                <a:cs typeface="Times New Roman" panose="02020603050405020304" pitchFamily="18" charset="0"/>
              </a:rPr>
              <a:t>Name: Md: </a:t>
            </a:r>
            <a:r>
              <a:rPr lang="en-US" dirty="0">
                <a:solidFill>
                  <a:schemeClr val="tx2">
                    <a:lumMod val="50000"/>
                  </a:schemeClr>
                </a:solidFill>
                <a:latin typeface="Times New Roman" panose="02020603050405020304" pitchFamily="18" charset="0"/>
                <a:cs typeface="Times New Roman" panose="02020603050405020304" pitchFamily="18" charset="0"/>
              </a:rPr>
              <a:t>Aftab Uddin</a:t>
            </a:r>
            <a:endParaRPr dirty="0">
              <a:solidFill>
                <a:schemeClr val="tx2">
                  <a:lumMod val="50000"/>
                </a:schemeClr>
              </a:solidFill>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r>
              <a:rPr lang="en" dirty="0">
                <a:solidFill>
                  <a:schemeClr val="tx2">
                    <a:lumMod val="50000"/>
                  </a:schemeClr>
                </a:solidFill>
                <a:latin typeface="Times New Roman" panose="02020603050405020304" pitchFamily="18" charset="0"/>
                <a:cs typeface="Times New Roman" panose="02020603050405020304" pitchFamily="18" charset="0"/>
              </a:rPr>
              <a:t>Student ID: 162910701142</a:t>
            </a:r>
          </a:p>
          <a:p>
            <a:pPr marL="0" lvl="0" indent="0" algn="l" rtl="0">
              <a:lnSpc>
                <a:spcPct val="115000"/>
              </a:lnSpc>
              <a:spcBef>
                <a:spcPts val="0"/>
              </a:spcBef>
              <a:spcAft>
                <a:spcPts val="0"/>
              </a:spcAft>
              <a:buNone/>
            </a:pPr>
            <a:r>
              <a:rPr lang="en-US" dirty="0">
                <a:solidFill>
                  <a:schemeClr val="tx2">
                    <a:lumMod val="50000"/>
                  </a:schemeClr>
                </a:solidFill>
                <a:latin typeface="Times New Roman" panose="02020603050405020304" pitchFamily="18" charset="0"/>
                <a:cs typeface="Times New Roman" panose="02020603050405020304" pitchFamily="18" charset="0"/>
              </a:rPr>
              <a:t>Computer Science and Technology</a:t>
            </a:r>
            <a:endParaRPr dirty="0">
              <a:solidFill>
                <a:schemeClr val="tx2">
                  <a:lumMod val="50000"/>
                </a:schemeClr>
              </a:solidFill>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r>
              <a:rPr lang="en" b="1" dirty="0">
                <a:solidFill>
                  <a:srgbClr val="535353"/>
                </a:solidFill>
                <a:latin typeface="Times New Roman" panose="02020603050405020304" pitchFamily="18" charset="0"/>
                <a:cs typeface="Times New Roman" panose="02020603050405020304" pitchFamily="18" charset="0"/>
              </a:rPr>
              <a:t>Jiangsu University Of Science &amp; Technology</a:t>
            </a:r>
            <a:endParaRPr b="1" dirty="0">
              <a:solidFill>
                <a:srgbClr val="535353"/>
              </a:solidFill>
              <a:latin typeface="Times New Roman" panose="02020603050405020304" pitchFamily="18" charset="0"/>
              <a:cs typeface="Times New Roman" panose="02020603050405020304" pitchFamily="18" charset="0"/>
            </a:endParaRPr>
          </a:p>
        </p:txBody>
      </p:sp>
      <p:sp>
        <p:nvSpPr>
          <p:cNvPr id="5" name="Google Shape;128;p13">
            <a:extLst>
              <a:ext uri="{FF2B5EF4-FFF2-40B4-BE49-F238E27FC236}">
                <a16:creationId xmlns:a16="http://schemas.microsoft.com/office/drawing/2014/main" xmlns="" id="{A38C641F-4B63-40F1-91F0-B3B92C8D7AEC}"/>
              </a:ext>
            </a:extLst>
          </p:cNvPr>
          <p:cNvSpPr txBox="1"/>
          <p:nvPr/>
        </p:nvSpPr>
        <p:spPr>
          <a:xfrm>
            <a:off x="4712990" y="2344712"/>
            <a:ext cx="3684700" cy="1533135"/>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lang="en" sz="1600" dirty="0">
              <a:solidFill>
                <a:srgbClr val="595959"/>
              </a:solidFill>
            </a:endParaRPr>
          </a:p>
          <a:p>
            <a:pPr lvl="0">
              <a:lnSpc>
                <a:spcPct val="115000"/>
              </a:lnSpc>
            </a:pPr>
            <a:r>
              <a:rPr lang="en-US" b="1" dirty="0">
                <a:solidFill>
                  <a:srgbClr val="595959"/>
                </a:solidFill>
                <a:latin typeface="Times New Roman" panose="02020603050405020304" pitchFamily="18" charset="0"/>
                <a:cs typeface="Times New Roman" panose="02020603050405020304" pitchFamily="18" charset="0"/>
              </a:rPr>
              <a:t>Supervised by</a:t>
            </a:r>
          </a:p>
          <a:p>
            <a:pPr lvl="0">
              <a:lnSpc>
                <a:spcPct val="115000"/>
              </a:lnSpc>
            </a:pPr>
            <a:r>
              <a:rPr lang="en-US" dirty="0">
                <a:solidFill>
                  <a:schemeClr val="tx2">
                    <a:lumMod val="50000"/>
                  </a:schemeClr>
                </a:solidFill>
                <a:latin typeface="Times New Roman" panose="02020603050405020304" pitchFamily="18" charset="0"/>
                <a:cs typeface="Times New Roman" panose="02020603050405020304" pitchFamily="18" charset="0"/>
              </a:rPr>
              <a:t>Dr. CHEN </a:t>
            </a:r>
            <a:r>
              <a:rPr lang="en-US" dirty="0" err="1">
                <a:solidFill>
                  <a:schemeClr val="tx2">
                    <a:lumMod val="50000"/>
                  </a:schemeClr>
                </a:solidFill>
                <a:latin typeface="Times New Roman" panose="02020603050405020304" pitchFamily="18" charset="0"/>
                <a:cs typeface="Times New Roman" panose="02020603050405020304" pitchFamily="18" charset="0"/>
              </a:rPr>
              <a:t>Jianjun</a:t>
            </a:r>
            <a:endParaRPr lang="en-US" dirty="0">
              <a:solidFill>
                <a:schemeClr val="tx2">
                  <a:lumMod val="50000"/>
                </a:schemeClr>
              </a:solidFill>
              <a:latin typeface="Times New Roman" panose="02020603050405020304" pitchFamily="18" charset="0"/>
              <a:cs typeface="Times New Roman" panose="02020603050405020304" pitchFamily="18" charset="0"/>
            </a:endParaRPr>
          </a:p>
          <a:p>
            <a:pPr lvl="0">
              <a:lnSpc>
                <a:spcPct val="115000"/>
              </a:lnSpc>
            </a:pPr>
            <a:r>
              <a:rPr lang="en-US" dirty="0">
                <a:solidFill>
                  <a:schemeClr val="tx2">
                    <a:lumMod val="50000"/>
                  </a:schemeClr>
                </a:solidFill>
                <a:latin typeface="Times New Roman" panose="02020603050405020304" pitchFamily="18" charset="0"/>
                <a:cs typeface="Times New Roman" panose="02020603050405020304" pitchFamily="18" charset="0"/>
              </a:rPr>
              <a:t>Associate Professor</a:t>
            </a:r>
          </a:p>
          <a:p>
            <a:pPr lvl="0">
              <a:lnSpc>
                <a:spcPct val="115000"/>
              </a:lnSpc>
            </a:pPr>
            <a:r>
              <a:rPr lang="en-US" dirty="0">
                <a:solidFill>
                  <a:schemeClr val="tx2">
                    <a:lumMod val="50000"/>
                  </a:schemeClr>
                </a:solidFill>
                <a:latin typeface="Times New Roman" panose="02020603050405020304" pitchFamily="18" charset="0"/>
                <a:cs typeface="Times New Roman" panose="02020603050405020304" pitchFamily="18" charset="0"/>
              </a:rPr>
              <a:t>Computer Science and Technology</a:t>
            </a:r>
          </a:p>
          <a:p>
            <a:pPr lvl="0">
              <a:lnSpc>
                <a:spcPct val="115000"/>
              </a:lnSpc>
            </a:pPr>
            <a:r>
              <a:rPr lang="en-US" b="1" dirty="0">
                <a:solidFill>
                  <a:srgbClr val="595959"/>
                </a:solidFill>
                <a:latin typeface="Times New Roman" panose="02020603050405020304" pitchFamily="18" charset="0"/>
                <a:cs typeface="Times New Roman" panose="02020603050405020304" pitchFamily="18" charset="0"/>
              </a:rPr>
              <a:t>Jiangsu University Of Science &amp; Technology</a:t>
            </a:r>
          </a:p>
        </p:txBody>
      </p:sp>
      <p:sp>
        <p:nvSpPr>
          <p:cNvPr id="3" name="Rectangle 2">
            <a:extLst>
              <a:ext uri="{FF2B5EF4-FFF2-40B4-BE49-F238E27FC236}">
                <a16:creationId xmlns:a16="http://schemas.microsoft.com/office/drawing/2014/main" xmlns="" id="{68EF05CA-3E94-48B3-82BC-E777C2C21095}"/>
              </a:ext>
            </a:extLst>
          </p:cNvPr>
          <p:cNvSpPr/>
          <p:nvPr/>
        </p:nvSpPr>
        <p:spPr>
          <a:xfrm>
            <a:off x="667949" y="1590298"/>
            <a:ext cx="7808102" cy="646331"/>
          </a:xfrm>
          <a:prstGeom prst="rect">
            <a:avLst/>
          </a:prstGeom>
        </p:spPr>
        <p:txBody>
          <a:bodyPr wrap="square">
            <a:spAutoFit/>
          </a:bodyPr>
          <a:lstStyle/>
          <a:p>
            <a:pPr algn="ctr"/>
            <a:r>
              <a:rPr lang="en-US" sz="3600" b="1" dirty="0">
                <a:latin typeface="Times New Roman" panose="02020603050405020304" pitchFamily="18" charset="0"/>
                <a:cs typeface="Times New Roman" panose="02020603050405020304" pitchFamily="18" charset="0"/>
              </a:rPr>
              <a:t>Web Application for Lost and Found </a:t>
            </a:r>
          </a:p>
        </p:txBody>
      </p:sp>
      <p:sp>
        <p:nvSpPr>
          <p:cNvPr id="8" name="Date Placeholder 3">
            <a:extLst>
              <a:ext uri="{FF2B5EF4-FFF2-40B4-BE49-F238E27FC236}">
                <a16:creationId xmlns:a16="http://schemas.microsoft.com/office/drawing/2014/main" xmlns="" id="{F6B86B71-8338-441B-BA07-2AE942920333}"/>
              </a:ext>
            </a:extLst>
          </p:cNvPr>
          <p:cNvSpPr txBox="1">
            <a:spLocks/>
          </p:cNvSpPr>
          <p:nvPr/>
        </p:nvSpPr>
        <p:spPr>
          <a:xfrm>
            <a:off x="6087473" y="4445343"/>
            <a:ext cx="2833243" cy="39360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9B58FB3-3209-4012-9624-6B163B44CAB4}" type="datetime2">
              <a:rPr lang="en-US" smtClean="0">
                <a:solidFill>
                  <a:srgbClr val="7030A0"/>
                </a:solidFill>
              </a:rPr>
              <a:pPr/>
              <a:t>Friday, June 12, 2020</a:t>
            </a:fld>
            <a:endParaRPr lang="en-US" dirty="0">
              <a:solidFill>
                <a:srgbClr val="7030A0"/>
              </a:solidFill>
            </a:endParaRPr>
          </a:p>
        </p:txBody>
      </p:sp>
      <p:pic>
        <p:nvPicPr>
          <p:cNvPr id="7" name="Picture 6" descr="ọc bổng JUST, Jiangsu University of Science and Technology, Trung ...">
            <a:extLst>
              <a:ext uri="{FF2B5EF4-FFF2-40B4-BE49-F238E27FC236}">
                <a16:creationId xmlns:a16="http://schemas.microsoft.com/office/drawing/2014/main" xmlns="" id="{C1A1F8D4-77BC-BD4E-AB13-6BEB317E4AE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947708" y="59473"/>
            <a:ext cx="4919493" cy="1678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2" name="Rectangle 1">
            <a:extLst>
              <a:ext uri="{FF2B5EF4-FFF2-40B4-BE49-F238E27FC236}">
                <a16:creationId xmlns:a16="http://schemas.microsoft.com/office/drawing/2014/main" xmlns="" id="{7EAB597F-B599-440B-8249-A8E85E19DE1C}"/>
              </a:ext>
            </a:extLst>
          </p:cNvPr>
          <p:cNvSpPr/>
          <p:nvPr/>
        </p:nvSpPr>
        <p:spPr>
          <a:xfrm>
            <a:off x="382773" y="976513"/>
            <a:ext cx="8399720" cy="3447098"/>
          </a:xfrm>
          <a:prstGeom prst="rect">
            <a:avLst/>
          </a:prstGeom>
        </p:spPr>
        <p:txBody>
          <a:bodyPr wrap="square">
            <a:spAutoFit/>
          </a:bodyPr>
          <a:lstStyle/>
          <a:p>
            <a:endParaRPr lang="en-US" sz="16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Lost &amp; Found is developed for the people who lost something or found something. </a:t>
            </a:r>
          </a:p>
          <a:p>
            <a:endParaRPr lang="en-US" sz="16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lost thing or found thing can be even a person.</a:t>
            </a:r>
          </a:p>
          <a:p>
            <a:endParaRPr lang="en-US" sz="16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If something gets missing the owner post on our application or if anyone found something and want to return post on our application. </a:t>
            </a:r>
          </a:p>
          <a:p>
            <a:endParaRPr lang="en-US" sz="16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They will communicate with each other through our application.</a:t>
            </a:r>
          </a:p>
          <a:p>
            <a:endParaRPr lang="en-US" sz="16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User can make comments under a post</a:t>
            </a:r>
            <a:r>
              <a:rPr lang="en-US"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Lost &amp; Found is basically a web application which is currently built for online platform.</a:t>
            </a:r>
          </a:p>
          <a:p>
            <a:endParaRPr lang="en-US"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xmlns="" id="{7A88CBE0-650E-4C4A-BB3C-4F0812FC6DCC}"/>
              </a:ext>
            </a:extLst>
          </p:cNvPr>
          <p:cNvSpPr/>
          <p:nvPr/>
        </p:nvSpPr>
        <p:spPr>
          <a:xfrm>
            <a:off x="3543513" y="529200"/>
            <a:ext cx="1909497" cy="369332"/>
          </a:xfrm>
          <a:prstGeom prst="rect">
            <a:avLst/>
          </a:prstGeom>
        </p:spPr>
        <p:txBody>
          <a:bodyPr wrap="none">
            <a:spAutoFit/>
          </a:bodyPr>
          <a:lstStyle/>
          <a:p>
            <a:r>
              <a:rPr lang="en-US" sz="1800" b="1" dirty="0">
                <a:latin typeface="Times New Roman" panose="02020603050405020304" pitchFamily="18" charset="0"/>
                <a:cs typeface="Times New Roman" panose="02020603050405020304" pitchFamily="18" charset="0"/>
              </a:rPr>
              <a:t>Project Overview</a:t>
            </a:r>
          </a:p>
        </p:txBody>
      </p:sp>
      <p:sp>
        <p:nvSpPr>
          <p:cNvPr id="7" name="Slide Number Placeholder 6">
            <a:extLst>
              <a:ext uri="{FF2B5EF4-FFF2-40B4-BE49-F238E27FC236}">
                <a16:creationId xmlns:a16="http://schemas.microsoft.com/office/drawing/2014/main" xmlns="" id="{371D52CE-9171-441D-8FFE-1C37427B58B5}"/>
              </a:ext>
            </a:extLst>
          </p:cNvPr>
          <p:cNvSpPr>
            <a:spLocks noGrp="1"/>
          </p:cNvSpPr>
          <p:nvPr>
            <p:ph type="sldNum" idx="12"/>
          </p:nvPr>
        </p:nvSpPr>
        <p:spPr>
          <a:xfrm>
            <a:off x="8443896" y="4304792"/>
            <a:ext cx="317331" cy="393600"/>
          </a:xfrm>
        </p:spPr>
        <p:txBody>
          <a:bodyPr/>
          <a:lstStyle/>
          <a:p>
            <a:pPr marL="0" lvl="0" indent="0" algn="r" rtl="0">
              <a:spcBef>
                <a:spcPts val="0"/>
              </a:spcBef>
              <a:spcAft>
                <a:spcPts val="0"/>
              </a:spcAft>
              <a:buNone/>
            </a:pPr>
            <a:fld id="{00000000-1234-1234-1234-123412341234}" type="slidenum">
              <a:rPr lang="en" sz="1400" smtClean="0"/>
              <a:t>2</a:t>
            </a:fld>
            <a:endParaRPr lang="e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2" name="Rectangle 1">
            <a:extLst>
              <a:ext uri="{FF2B5EF4-FFF2-40B4-BE49-F238E27FC236}">
                <a16:creationId xmlns:a16="http://schemas.microsoft.com/office/drawing/2014/main" xmlns="" id="{7EAB597F-B599-440B-8249-A8E85E19DE1C}"/>
              </a:ext>
            </a:extLst>
          </p:cNvPr>
          <p:cNvSpPr/>
          <p:nvPr/>
        </p:nvSpPr>
        <p:spPr>
          <a:xfrm>
            <a:off x="754912" y="1181462"/>
            <a:ext cx="7687339" cy="3293209"/>
          </a:xfrm>
          <a:prstGeom prst="rect">
            <a:avLst/>
          </a:prstGeom>
        </p:spPr>
        <p:txBody>
          <a:bodyPr wrap="square">
            <a:spAutoFit/>
          </a:bodyPr>
          <a:lstStyle/>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 our daily life sometime we lost our valuable things and sometime a person get  missing . </a:t>
            </a:r>
          </a:p>
          <a:p>
            <a:pPr marL="285750" indent="-28575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We have to struggle a lot to find that person or the things. We inform the police then make a GD. </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After taking GD police run inquiries if they found they inform us but police don’t get much interest if the missing object is cheap or tinny which is very hard to find and there is no proper clue. </a:t>
            </a:r>
          </a:p>
          <a:p>
            <a:pPr marL="285750" indent="-28575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Sometime we make mike announcement for the missing object or person.</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Most often we don’t get that thing or Person back.</a:t>
            </a:r>
          </a:p>
        </p:txBody>
      </p:sp>
      <p:sp>
        <p:nvSpPr>
          <p:cNvPr id="3" name="Rectangle 2">
            <a:extLst>
              <a:ext uri="{FF2B5EF4-FFF2-40B4-BE49-F238E27FC236}">
                <a16:creationId xmlns:a16="http://schemas.microsoft.com/office/drawing/2014/main" xmlns="" id="{7A88CBE0-650E-4C4A-BB3C-4F0812FC6DCC}"/>
              </a:ext>
            </a:extLst>
          </p:cNvPr>
          <p:cNvSpPr/>
          <p:nvPr/>
        </p:nvSpPr>
        <p:spPr>
          <a:xfrm>
            <a:off x="3312681" y="668829"/>
            <a:ext cx="2191626" cy="369332"/>
          </a:xfrm>
          <a:prstGeom prst="rect">
            <a:avLst/>
          </a:prstGeom>
        </p:spPr>
        <p:txBody>
          <a:bodyPr wrap="none">
            <a:spAutoFit/>
          </a:bodyPr>
          <a:lstStyle/>
          <a:p>
            <a:r>
              <a:rPr lang="en-US" sz="1800" b="1" dirty="0">
                <a:latin typeface="Times New Roman" panose="02020603050405020304" pitchFamily="18" charset="0"/>
                <a:cs typeface="Times New Roman" panose="02020603050405020304" pitchFamily="18" charset="0"/>
              </a:rPr>
              <a:t>Problem description</a:t>
            </a:r>
          </a:p>
        </p:txBody>
      </p:sp>
      <p:sp>
        <p:nvSpPr>
          <p:cNvPr id="6" name="Slide Number Placeholder 5">
            <a:extLst>
              <a:ext uri="{FF2B5EF4-FFF2-40B4-BE49-F238E27FC236}">
                <a16:creationId xmlns:a16="http://schemas.microsoft.com/office/drawing/2014/main" xmlns="" id="{B2508B7F-95F3-4DAD-B22D-ED6CBB976154}"/>
              </a:ext>
            </a:extLst>
          </p:cNvPr>
          <p:cNvSpPr>
            <a:spLocks noGrp="1"/>
          </p:cNvSpPr>
          <p:nvPr>
            <p:ph type="sldNum" idx="12"/>
          </p:nvPr>
        </p:nvSpPr>
        <p:spPr>
          <a:xfrm>
            <a:off x="8591107" y="4474671"/>
            <a:ext cx="297713" cy="393600"/>
          </a:xfrm>
        </p:spPr>
        <p:txBody>
          <a:bodyPr/>
          <a:lstStyle/>
          <a:p>
            <a:pPr marL="0" lvl="0" indent="0" algn="r" rtl="0">
              <a:spcBef>
                <a:spcPts val="0"/>
              </a:spcBef>
              <a:spcAft>
                <a:spcPts val="0"/>
              </a:spcAft>
              <a:buNone/>
            </a:pPr>
            <a:fld id="{00000000-1234-1234-1234-123412341234}" type="slidenum">
              <a:rPr lang="en" sz="1400" smtClean="0">
                <a:latin typeface="Times New Roman" panose="02020603050405020304" pitchFamily="18" charset="0"/>
                <a:cs typeface="Times New Roman" panose="02020603050405020304" pitchFamily="18" charset="0"/>
              </a:rPr>
              <a:t>3</a:t>
            </a:fld>
            <a:endParaRPr lang="e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1458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804428" y="598374"/>
            <a:ext cx="659155" cy="369332"/>
          </a:xfrm>
          <a:prstGeom prst="rect">
            <a:avLst/>
          </a:prstGeom>
        </p:spPr>
        <p:txBody>
          <a:bodyPr wrap="none">
            <a:spAutoFit/>
          </a:bodyPr>
          <a:lstStyle/>
          <a:p>
            <a:r>
              <a:rPr lang="en-US" sz="1800" b="1" dirty="0">
                <a:latin typeface="Times New Roman" panose="02020603050405020304" pitchFamily="18" charset="0"/>
                <a:cs typeface="Times New Roman" panose="02020603050405020304" pitchFamily="18" charset="0"/>
              </a:rPr>
              <a:t>Goal</a:t>
            </a:r>
            <a:endParaRPr lang="en-US" sz="16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8A2BF940-7B8D-455F-8A58-AC579896FFB0}"/>
              </a:ext>
            </a:extLst>
          </p:cNvPr>
          <p:cNvSpPr>
            <a:spLocks noGrp="1"/>
          </p:cNvSpPr>
          <p:nvPr>
            <p:ph type="sldNum" idx="12"/>
          </p:nvPr>
        </p:nvSpPr>
        <p:spPr>
          <a:xfrm>
            <a:off x="8383771" y="4281979"/>
            <a:ext cx="404037" cy="393600"/>
          </a:xfrm>
        </p:spPr>
        <p:txBody>
          <a:bodyPr/>
          <a:lstStyle/>
          <a:p>
            <a:pPr marL="0" lvl="0" indent="0" algn="r" rtl="0">
              <a:spcBef>
                <a:spcPts val="0"/>
              </a:spcBef>
              <a:spcAft>
                <a:spcPts val="0"/>
              </a:spcAft>
              <a:buNone/>
            </a:pPr>
            <a:fld id="{00000000-1234-1234-1234-123412341234}" type="slidenum">
              <a:rPr lang="en" smtClean="0">
                <a:latin typeface="Times New Roman" panose="02020603050405020304" pitchFamily="18" charset="0"/>
                <a:cs typeface="Times New Roman" panose="02020603050405020304" pitchFamily="18" charset="0"/>
              </a:rPr>
              <a:t>4</a:t>
            </a:fld>
            <a:endParaRPr lang="e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xmlns="" id="{E0CB3E1F-B623-445B-8204-6BD9A1DCC296}"/>
              </a:ext>
            </a:extLst>
          </p:cNvPr>
          <p:cNvSpPr/>
          <p:nvPr/>
        </p:nvSpPr>
        <p:spPr>
          <a:xfrm>
            <a:off x="558209" y="1228017"/>
            <a:ext cx="8027581" cy="2062103"/>
          </a:xfrm>
          <a:prstGeom prst="rect">
            <a:avLst/>
          </a:prstGeom>
        </p:spPr>
        <p:txBody>
          <a:bodyPr wrap="square">
            <a:spAutoFit/>
          </a:bodyPr>
          <a:lstStyle/>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Making online system where people can make lost post and found post.</a:t>
            </a:r>
          </a:p>
          <a:p>
            <a:pPr marL="285750" indent="-28575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Building communication between the owner and finer to get product hand to hand.</a:t>
            </a:r>
          </a:p>
          <a:p>
            <a:pPr marL="285750" indent="-28575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Making a platform where people can post any type of missing thing or person. And also  can make found post if anyone found something that he/she wants to give back to the owner.</a:t>
            </a:r>
          </a:p>
          <a:p>
            <a:pPr marL="285750" indent="-28575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So, My motive is to create a online place where people can exchange their missing things.</a:t>
            </a:r>
          </a:p>
        </p:txBody>
      </p:sp>
    </p:spTree>
    <p:extLst>
      <p:ext uri="{BB962C8B-B14F-4D97-AF65-F5344CB8AC3E}">
        <p14:creationId xmlns:p14="http://schemas.microsoft.com/office/powerpoint/2010/main" val="858984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250214" y="272965"/>
            <a:ext cx="2005677" cy="369332"/>
          </a:xfrm>
          <a:prstGeom prst="rect">
            <a:avLst/>
          </a:prstGeom>
        </p:spPr>
        <p:txBody>
          <a:bodyPr wrap="none">
            <a:spAutoFit/>
          </a:bodyPr>
          <a:lstStyle/>
          <a:p>
            <a:r>
              <a:rPr lang="en-US" sz="1800" b="1" dirty="0">
                <a:latin typeface="Times New Roman" panose="02020603050405020304" pitchFamily="18" charset="0"/>
                <a:cs typeface="Times New Roman" panose="02020603050405020304" pitchFamily="18" charset="0"/>
              </a:rPr>
              <a:t>Use Case Diagram</a:t>
            </a:r>
          </a:p>
        </p:txBody>
      </p:sp>
      <p:sp>
        <p:nvSpPr>
          <p:cNvPr id="3" name="Slide Number Placeholder 2">
            <a:extLst>
              <a:ext uri="{FF2B5EF4-FFF2-40B4-BE49-F238E27FC236}">
                <a16:creationId xmlns:a16="http://schemas.microsoft.com/office/drawing/2014/main" xmlns="" id="{B71C06EA-BA0C-488E-8FAC-131516AE3922}"/>
              </a:ext>
            </a:extLst>
          </p:cNvPr>
          <p:cNvSpPr>
            <a:spLocks noGrp="1"/>
          </p:cNvSpPr>
          <p:nvPr>
            <p:ph type="sldNum" idx="12"/>
          </p:nvPr>
        </p:nvSpPr>
        <p:spPr>
          <a:xfrm>
            <a:off x="8420986" y="4330683"/>
            <a:ext cx="273899" cy="393600"/>
          </a:xfrm>
        </p:spPr>
        <p:txBody>
          <a:bodyPr/>
          <a:lstStyle/>
          <a:p>
            <a:pPr marL="0" lvl="0" indent="0" algn="r" rtl="0">
              <a:spcBef>
                <a:spcPts val="0"/>
              </a:spcBef>
              <a:spcAft>
                <a:spcPts val="0"/>
              </a:spcAft>
              <a:buNone/>
            </a:pPr>
            <a:fld id="{00000000-1234-1234-1234-123412341234}" type="slidenum">
              <a:rPr lang="en" smtClean="0"/>
              <a:t>5</a:t>
            </a:fld>
            <a:endParaRPr lang="en" dirty="0"/>
          </a:p>
        </p:txBody>
      </p:sp>
      <p:pic>
        <p:nvPicPr>
          <p:cNvPr id="6" name="Picture 5">
            <a:extLst>
              <a:ext uri="{FF2B5EF4-FFF2-40B4-BE49-F238E27FC236}">
                <a16:creationId xmlns:a16="http://schemas.microsoft.com/office/drawing/2014/main" xmlns="" id="{7403718E-FDAE-4A6A-96B0-2731081465BD}"/>
              </a:ext>
            </a:extLst>
          </p:cNvPr>
          <p:cNvPicPr>
            <a:picLocks noChangeAspect="1"/>
          </p:cNvPicPr>
          <p:nvPr/>
        </p:nvPicPr>
        <p:blipFill>
          <a:blip r:embed="rId3"/>
          <a:stretch>
            <a:fillRect/>
          </a:stretch>
        </p:blipFill>
        <p:spPr>
          <a:xfrm>
            <a:off x="1884241" y="705173"/>
            <a:ext cx="4330013" cy="4165362"/>
          </a:xfrm>
          <a:prstGeom prst="rect">
            <a:avLst/>
          </a:prstGeom>
        </p:spPr>
      </p:pic>
    </p:spTree>
    <p:extLst>
      <p:ext uri="{BB962C8B-B14F-4D97-AF65-F5344CB8AC3E}">
        <p14:creationId xmlns:p14="http://schemas.microsoft.com/office/powerpoint/2010/main" val="3377426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4A6D5E6B-DBF8-466A-9709-D1983049A0F0}"/>
              </a:ext>
            </a:extLst>
          </p:cNvPr>
          <p:cNvSpPr>
            <a:spLocks noGrp="1"/>
          </p:cNvSpPr>
          <p:nvPr>
            <p:ph type="sldNum" idx="12"/>
          </p:nvPr>
        </p:nvSpPr>
        <p:spPr>
          <a:xfrm>
            <a:off x="8404714" y="4277953"/>
            <a:ext cx="369592" cy="393600"/>
          </a:xfrm>
        </p:spPr>
        <p:txBody>
          <a:bodyPr/>
          <a:lstStyle/>
          <a:p>
            <a:pPr marL="0" lvl="0" indent="0" algn="r" rtl="0">
              <a:spcBef>
                <a:spcPts val="0"/>
              </a:spcBef>
              <a:spcAft>
                <a:spcPts val="0"/>
              </a:spcAft>
              <a:buNone/>
            </a:pPr>
            <a:fld id="{00000000-1234-1234-1234-123412341234}" type="slidenum">
              <a:rPr lang="en" smtClean="0"/>
              <a:t>6</a:t>
            </a:fld>
            <a:endParaRPr lang="en" dirty="0"/>
          </a:p>
        </p:txBody>
      </p:sp>
      <p:sp>
        <p:nvSpPr>
          <p:cNvPr id="12" name="Rectangle 11">
            <a:extLst>
              <a:ext uri="{FF2B5EF4-FFF2-40B4-BE49-F238E27FC236}">
                <a16:creationId xmlns:a16="http://schemas.microsoft.com/office/drawing/2014/main" xmlns="" id="{3229D14D-6AFE-4C2F-9FDE-4E56F3052EBC}"/>
              </a:ext>
            </a:extLst>
          </p:cNvPr>
          <p:cNvSpPr/>
          <p:nvPr/>
        </p:nvSpPr>
        <p:spPr>
          <a:xfrm>
            <a:off x="3335628" y="253090"/>
            <a:ext cx="2095067" cy="369332"/>
          </a:xfrm>
          <a:prstGeom prst="rect">
            <a:avLst/>
          </a:prstGeom>
        </p:spPr>
        <p:txBody>
          <a:bodyPr wrap="square">
            <a:spAutoFit/>
          </a:bodyPr>
          <a:lstStyle/>
          <a:p>
            <a:r>
              <a:rPr lang="en-US" sz="1800" b="1" dirty="0">
                <a:latin typeface="Times New Roman" panose="02020603050405020304" pitchFamily="18" charset="0"/>
                <a:cs typeface="Times New Roman" panose="02020603050405020304" pitchFamily="18" charset="0"/>
              </a:rPr>
              <a:t>Sequence Diagram</a:t>
            </a:r>
          </a:p>
        </p:txBody>
      </p:sp>
      <p:sp>
        <p:nvSpPr>
          <p:cNvPr id="9" name="Date Placeholder 6">
            <a:extLst>
              <a:ext uri="{FF2B5EF4-FFF2-40B4-BE49-F238E27FC236}">
                <a16:creationId xmlns:a16="http://schemas.microsoft.com/office/drawing/2014/main" xmlns="" id="{1F7286CB-92A3-4640-AB3F-0139223625F7}"/>
              </a:ext>
            </a:extLst>
          </p:cNvPr>
          <p:cNvSpPr txBox="1">
            <a:spLocks/>
          </p:cNvSpPr>
          <p:nvPr/>
        </p:nvSpPr>
        <p:spPr>
          <a:xfrm>
            <a:off x="9131121" y="6412478"/>
            <a:ext cx="3573497" cy="65116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EBCC266-3E1D-4BF9-83E6-B5622510AE5A}" type="datetime2">
              <a:rPr lang="en-US" sz="1600" smtClean="0">
                <a:solidFill>
                  <a:srgbClr val="7030A0"/>
                </a:solidFill>
              </a:rPr>
              <a:pPr/>
              <a:t>Friday, June 12, 2020</a:t>
            </a:fld>
            <a:endParaRPr lang="en-US" dirty="0">
              <a:solidFill>
                <a:srgbClr val="7030A0"/>
              </a:solidFill>
            </a:endParaRPr>
          </a:p>
        </p:txBody>
      </p:sp>
      <p:sp>
        <p:nvSpPr>
          <p:cNvPr id="10" name="TextBox 9">
            <a:extLst>
              <a:ext uri="{FF2B5EF4-FFF2-40B4-BE49-F238E27FC236}">
                <a16:creationId xmlns:a16="http://schemas.microsoft.com/office/drawing/2014/main" xmlns="" id="{C16DB7E4-8DC5-411A-9CC8-12529127F814}"/>
              </a:ext>
            </a:extLst>
          </p:cNvPr>
          <p:cNvSpPr txBox="1"/>
          <p:nvPr/>
        </p:nvSpPr>
        <p:spPr>
          <a:xfrm>
            <a:off x="11333018" y="303931"/>
            <a:ext cx="457200" cy="369332"/>
          </a:xfrm>
          <a:prstGeom prst="rect">
            <a:avLst/>
          </a:prstGeom>
          <a:noFill/>
        </p:spPr>
        <p:txBody>
          <a:bodyPr wrap="square" rtlCol="0">
            <a:spAutoFit/>
          </a:bodyPr>
          <a:lstStyle/>
          <a:p>
            <a:r>
              <a:rPr lang="en-US" dirty="0"/>
              <a:t>11</a:t>
            </a:r>
          </a:p>
        </p:txBody>
      </p:sp>
      <p:pic>
        <p:nvPicPr>
          <p:cNvPr id="13" name="Picture 12">
            <a:extLst>
              <a:ext uri="{FF2B5EF4-FFF2-40B4-BE49-F238E27FC236}">
                <a16:creationId xmlns:a16="http://schemas.microsoft.com/office/drawing/2014/main" xmlns="" id="{54EED279-6BE6-4B5A-B08A-321C844114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4616" y="1062984"/>
            <a:ext cx="3664894" cy="3539080"/>
          </a:xfrm>
          <a:prstGeom prst="rect">
            <a:avLst/>
          </a:prstGeom>
        </p:spPr>
      </p:pic>
      <p:pic>
        <p:nvPicPr>
          <p:cNvPr id="15" name="Picture 14">
            <a:extLst>
              <a:ext uri="{FF2B5EF4-FFF2-40B4-BE49-F238E27FC236}">
                <a16:creationId xmlns:a16="http://schemas.microsoft.com/office/drawing/2014/main" xmlns="" id="{96223E37-EAEF-49D2-A41A-9D2F23F996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719" y="956769"/>
            <a:ext cx="4285281" cy="3645295"/>
          </a:xfrm>
          <a:prstGeom prst="rect">
            <a:avLst/>
          </a:prstGeom>
        </p:spPr>
      </p:pic>
      <p:sp>
        <p:nvSpPr>
          <p:cNvPr id="17" name="TextBox 16">
            <a:extLst>
              <a:ext uri="{FF2B5EF4-FFF2-40B4-BE49-F238E27FC236}">
                <a16:creationId xmlns:a16="http://schemas.microsoft.com/office/drawing/2014/main" xmlns="" id="{0F519F80-4F81-4AC3-AC64-F0D9C217B5DE}"/>
              </a:ext>
            </a:extLst>
          </p:cNvPr>
          <p:cNvSpPr txBox="1"/>
          <p:nvPr/>
        </p:nvSpPr>
        <p:spPr>
          <a:xfrm>
            <a:off x="1189822" y="771692"/>
            <a:ext cx="1612961" cy="307777"/>
          </a:xfrm>
          <a:prstGeom prst="rect">
            <a:avLst/>
          </a:prstGeom>
          <a:noFill/>
        </p:spPr>
        <p:txBody>
          <a:bodyPr wrap="square" rtlCol="0">
            <a:spAutoFit/>
          </a:bodyPr>
          <a:lstStyle/>
          <a:p>
            <a:r>
              <a:rPr lang="en-US" dirty="0"/>
              <a:t>User signup/login</a:t>
            </a:r>
          </a:p>
        </p:txBody>
      </p:sp>
      <p:sp>
        <p:nvSpPr>
          <p:cNvPr id="18" name="TextBox 17">
            <a:extLst>
              <a:ext uri="{FF2B5EF4-FFF2-40B4-BE49-F238E27FC236}">
                <a16:creationId xmlns:a16="http://schemas.microsoft.com/office/drawing/2014/main" xmlns="" id="{F5E1A812-DAA7-43D2-BBA6-70C1DBB011C6}"/>
              </a:ext>
            </a:extLst>
          </p:cNvPr>
          <p:cNvSpPr txBox="1"/>
          <p:nvPr/>
        </p:nvSpPr>
        <p:spPr>
          <a:xfrm>
            <a:off x="6757063" y="702100"/>
            <a:ext cx="1197115" cy="307777"/>
          </a:xfrm>
          <a:prstGeom prst="rect">
            <a:avLst/>
          </a:prstGeom>
          <a:noFill/>
        </p:spPr>
        <p:txBody>
          <a:bodyPr wrap="square" rtlCol="0">
            <a:spAutoFit/>
          </a:bodyPr>
          <a:lstStyle/>
          <a:p>
            <a:r>
              <a:rPr lang="en-US" dirty="0"/>
              <a:t>Admin login</a:t>
            </a:r>
          </a:p>
        </p:txBody>
      </p:sp>
    </p:spTree>
    <p:extLst>
      <p:ext uri="{BB962C8B-B14F-4D97-AF65-F5344CB8AC3E}">
        <p14:creationId xmlns:p14="http://schemas.microsoft.com/office/powerpoint/2010/main" val="2439472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2294603" y="253090"/>
            <a:ext cx="4031873" cy="369332"/>
          </a:xfrm>
          <a:prstGeom prst="rect">
            <a:avLst/>
          </a:prstGeom>
        </p:spPr>
        <p:txBody>
          <a:bodyPr wrap="none">
            <a:spAutoFit/>
          </a:bodyPr>
          <a:lstStyle/>
          <a:p>
            <a:r>
              <a:rPr lang="en-US" sz="1800" b="1" dirty="0">
                <a:latin typeface="Times New Roman" panose="02020603050405020304" pitchFamily="18" charset="0"/>
                <a:cs typeface="Times New Roman" panose="02020603050405020304" pitchFamily="18" charset="0"/>
              </a:rPr>
              <a:t>Create Found Post Sequence Diagrams</a:t>
            </a:r>
          </a:p>
        </p:txBody>
      </p:sp>
      <p:sp>
        <p:nvSpPr>
          <p:cNvPr id="3" name="Slide Number Placeholder 2">
            <a:extLst>
              <a:ext uri="{FF2B5EF4-FFF2-40B4-BE49-F238E27FC236}">
                <a16:creationId xmlns:a16="http://schemas.microsoft.com/office/drawing/2014/main" xmlns="" id="{4A6D5E6B-DBF8-466A-9709-D1983049A0F0}"/>
              </a:ext>
            </a:extLst>
          </p:cNvPr>
          <p:cNvSpPr>
            <a:spLocks noGrp="1"/>
          </p:cNvSpPr>
          <p:nvPr>
            <p:ph type="sldNum" idx="12"/>
          </p:nvPr>
        </p:nvSpPr>
        <p:spPr>
          <a:xfrm>
            <a:off x="8378457" y="4397905"/>
            <a:ext cx="369592" cy="393600"/>
          </a:xfrm>
        </p:spPr>
        <p:txBody>
          <a:bodyPr/>
          <a:lstStyle/>
          <a:p>
            <a:pPr marL="0" lvl="0" indent="0" algn="r" rtl="0">
              <a:spcBef>
                <a:spcPts val="0"/>
              </a:spcBef>
              <a:spcAft>
                <a:spcPts val="0"/>
              </a:spcAft>
              <a:buNone/>
            </a:pPr>
            <a:fld id="{00000000-1234-1234-1234-123412341234}" type="slidenum">
              <a:rPr lang="en" smtClean="0"/>
              <a:t>7</a:t>
            </a:fld>
            <a:endParaRPr lang="en" dirty="0"/>
          </a:p>
        </p:txBody>
      </p:sp>
      <p:pic>
        <p:nvPicPr>
          <p:cNvPr id="11" name="Picture 10">
            <a:extLst>
              <a:ext uri="{FF2B5EF4-FFF2-40B4-BE49-F238E27FC236}">
                <a16:creationId xmlns:a16="http://schemas.microsoft.com/office/drawing/2014/main" xmlns="" id="{9D3A3E45-B413-409C-9CDB-4E193D3132A6}"/>
              </a:ext>
            </a:extLst>
          </p:cNvPr>
          <p:cNvPicPr>
            <a:picLocks noChangeAspect="1"/>
          </p:cNvPicPr>
          <p:nvPr/>
        </p:nvPicPr>
        <p:blipFill>
          <a:blip r:embed="rId3"/>
          <a:stretch>
            <a:fillRect/>
          </a:stretch>
        </p:blipFill>
        <p:spPr>
          <a:xfrm>
            <a:off x="2002996" y="622422"/>
            <a:ext cx="4615085" cy="4172138"/>
          </a:xfrm>
          <a:prstGeom prst="rect">
            <a:avLst/>
          </a:prstGeom>
        </p:spPr>
      </p:pic>
    </p:spTree>
    <p:extLst>
      <p:ext uri="{BB962C8B-B14F-4D97-AF65-F5344CB8AC3E}">
        <p14:creationId xmlns:p14="http://schemas.microsoft.com/office/powerpoint/2010/main" val="1517160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2451443" y="394844"/>
            <a:ext cx="3826689" cy="369332"/>
          </a:xfrm>
          <a:prstGeom prst="rect">
            <a:avLst/>
          </a:prstGeom>
        </p:spPr>
        <p:txBody>
          <a:bodyPr wrap="none">
            <a:spAutoFit/>
          </a:bodyPr>
          <a:lstStyle/>
          <a:p>
            <a:r>
              <a:rPr lang="en-US" sz="1800" b="1" dirty="0">
                <a:latin typeface="Times New Roman" panose="02020603050405020304" pitchFamily="18" charset="0"/>
                <a:cs typeface="Times New Roman" panose="02020603050405020304" pitchFamily="18" charset="0"/>
              </a:rPr>
              <a:t>Create Lost Post Sequence Diagrams</a:t>
            </a:r>
          </a:p>
        </p:txBody>
      </p:sp>
      <p:sp>
        <p:nvSpPr>
          <p:cNvPr id="3" name="Slide Number Placeholder 2">
            <a:extLst>
              <a:ext uri="{FF2B5EF4-FFF2-40B4-BE49-F238E27FC236}">
                <a16:creationId xmlns:a16="http://schemas.microsoft.com/office/drawing/2014/main" xmlns="" id="{4A6D5E6B-DBF8-466A-9709-D1983049A0F0}"/>
              </a:ext>
            </a:extLst>
          </p:cNvPr>
          <p:cNvSpPr>
            <a:spLocks noGrp="1"/>
          </p:cNvSpPr>
          <p:nvPr>
            <p:ph type="sldNum" idx="12"/>
          </p:nvPr>
        </p:nvSpPr>
        <p:spPr>
          <a:xfrm>
            <a:off x="8389089" y="4376640"/>
            <a:ext cx="369592" cy="393600"/>
          </a:xfrm>
        </p:spPr>
        <p:txBody>
          <a:bodyPr/>
          <a:lstStyle/>
          <a:p>
            <a:pPr marL="0" lvl="0" indent="0" algn="r" rtl="0">
              <a:spcBef>
                <a:spcPts val="0"/>
              </a:spcBef>
              <a:spcAft>
                <a:spcPts val="0"/>
              </a:spcAft>
              <a:buNone/>
            </a:pPr>
            <a:fld id="{00000000-1234-1234-1234-123412341234}" type="slidenum">
              <a:rPr lang="en" smtClean="0"/>
              <a:t>8</a:t>
            </a:fld>
            <a:endParaRPr lang="en" dirty="0"/>
          </a:p>
        </p:txBody>
      </p:sp>
      <p:pic>
        <p:nvPicPr>
          <p:cNvPr id="8" name="Picture 7">
            <a:extLst>
              <a:ext uri="{FF2B5EF4-FFF2-40B4-BE49-F238E27FC236}">
                <a16:creationId xmlns:a16="http://schemas.microsoft.com/office/drawing/2014/main" xmlns="" id="{1B8F1912-13E5-4059-8F7F-E5815EBDEF12}"/>
              </a:ext>
            </a:extLst>
          </p:cNvPr>
          <p:cNvPicPr>
            <a:picLocks noChangeAspect="1"/>
          </p:cNvPicPr>
          <p:nvPr/>
        </p:nvPicPr>
        <p:blipFill>
          <a:blip r:embed="rId3"/>
          <a:stretch>
            <a:fillRect/>
          </a:stretch>
        </p:blipFill>
        <p:spPr>
          <a:xfrm>
            <a:off x="2209687" y="697424"/>
            <a:ext cx="4724625" cy="4193121"/>
          </a:xfrm>
          <a:prstGeom prst="rect">
            <a:avLst/>
          </a:prstGeom>
        </p:spPr>
      </p:pic>
    </p:spTree>
    <p:extLst>
      <p:ext uri="{BB962C8B-B14F-4D97-AF65-F5344CB8AC3E}">
        <p14:creationId xmlns:p14="http://schemas.microsoft.com/office/powerpoint/2010/main" val="3098438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125972" y="272892"/>
            <a:ext cx="2254102" cy="369332"/>
          </a:xfrm>
          <a:prstGeom prst="rect">
            <a:avLst/>
          </a:prstGeom>
        </p:spPr>
        <p:txBody>
          <a:bodyPr wrap="square">
            <a:spAutoFit/>
          </a:bodyPr>
          <a:lstStyle/>
          <a:p>
            <a:r>
              <a:rPr lang="en-US" sz="1800" b="1" dirty="0"/>
              <a:t>Activity </a:t>
            </a:r>
            <a:r>
              <a:rPr lang="en-US" sz="1800" b="1" dirty="0">
                <a:latin typeface="Times New Roman" panose="02020603050405020304" pitchFamily="18" charset="0"/>
                <a:cs typeface="Times New Roman" panose="02020603050405020304" pitchFamily="18" charset="0"/>
              </a:rPr>
              <a:t>Diagram:</a:t>
            </a:r>
          </a:p>
        </p:txBody>
      </p:sp>
      <p:sp>
        <p:nvSpPr>
          <p:cNvPr id="3" name="Slide Number Placeholder 2">
            <a:extLst>
              <a:ext uri="{FF2B5EF4-FFF2-40B4-BE49-F238E27FC236}">
                <a16:creationId xmlns:a16="http://schemas.microsoft.com/office/drawing/2014/main" xmlns="" id="{B2B56591-AAB4-4FFD-815C-5433B0DEB0BF}"/>
              </a:ext>
            </a:extLst>
          </p:cNvPr>
          <p:cNvSpPr>
            <a:spLocks noGrp="1"/>
          </p:cNvSpPr>
          <p:nvPr>
            <p:ph type="sldNum" idx="12"/>
          </p:nvPr>
        </p:nvSpPr>
        <p:spPr>
          <a:xfrm>
            <a:off x="8306056" y="4501274"/>
            <a:ext cx="548700" cy="393600"/>
          </a:xfrm>
        </p:spPr>
        <p:txBody>
          <a:bodyPr/>
          <a:lstStyle/>
          <a:p>
            <a:pPr marL="0" lvl="0" indent="0" algn="r" rtl="0">
              <a:spcBef>
                <a:spcPts val="0"/>
              </a:spcBef>
              <a:spcAft>
                <a:spcPts val="0"/>
              </a:spcAft>
              <a:buNone/>
            </a:pPr>
            <a:fld id="{00000000-1234-1234-1234-123412341234}" type="slidenum">
              <a:rPr lang="en" smtClean="0"/>
              <a:t>9</a:t>
            </a:fld>
            <a:endParaRPr lang="en" dirty="0"/>
          </a:p>
        </p:txBody>
      </p:sp>
      <p:pic>
        <p:nvPicPr>
          <p:cNvPr id="6" name="Picture 5">
            <a:extLst>
              <a:ext uri="{FF2B5EF4-FFF2-40B4-BE49-F238E27FC236}">
                <a16:creationId xmlns:a16="http://schemas.microsoft.com/office/drawing/2014/main" xmlns="" id="{A0A3A2EA-1336-444B-B4FF-FE3D7F69AEDB}"/>
              </a:ext>
            </a:extLst>
          </p:cNvPr>
          <p:cNvPicPr>
            <a:picLocks noChangeAspect="1"/>
          </p:cNvPicPr>
          <p:nvPr/>
        </p:nvPicPr>
        <p:blipFill>
          <a:blip r:embed="rId3"/>
          <a:stretch>
            <a:fillRect/>
          </a:stretch>
        </p:blipFill>
        <p:spPr>
          <a:xfrm>
            <a:off x="2196901" y="642224"/>
            <a:ext cx="4614531" cy="4252650"/>
          </a:xfrm>
          <a:prstGeom prst="rect">
            <a:avLst/>
          </a:prstGeom>
        </p:spPr>
      </p:pic>
    </p:spTree>
    <p:extLst>
      <p:ext uri="{BB962C8B-B14F-4D97-AF65-F5344CB8AC3E}">
        <p14:creationId xmlns:p14="http://schemas.microsoft.com/office/powerpoint/2010/main" val="993522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2507254" y="241695"/>
            <a:ext cx="4031769" cy="369332"/>
          </a:xfrm>
          <a:prstGeom prst="rect">
            <a:avLst/>
          </a:prstGeom>
        </p:spPr>
        <p:txBody>
          <a:bodyPr wrap="square">
            <a:spAutoFit/>
          </a:bodyPr>
          <a:lstStyle/>
          <a:p>
            <a:r>
              <a:rPr lang="en-US" sz="1800" b="1" dirty="0">
                <a:latin typeface="Times New Roman" panose="02020603050405020304" pitchFamily="18" charset="0"/>
                <a:cs typeface="Times New Roman" panose="02020603050405020304" pitchFamily="18" charset="0"/>
              </a:rPr>
              <a:t>Activity diagram for finder and owner</a:t>
            </a:r>
          </a:p>
        </p:txBody>
      </p:sp>
      <p:sp>
        <p:nvSpPr>
          <p:cNvPr id="3" name="Slide Number Placeholder 2">
            <a:extLst>
              <a:ext uri="{FF2B5EF4-FFF2-40B4-BE49-F238E27FC236}">
                <a16:creationId xmlns:a16="http://schemas.microsoft.com/office/drawing/2014/main" xmlns="" id="{B2B56591-AAB4-4FFD-815C-5433B0DEB0BF}"/>
              </a:ext>
            </a:extLst>
          </p:cNvPr>
          <p:cNvSpPr>
            <a:spLocks noGrp="1"/>
          </p:cNvSpPr>
          <p:nvPr>
            <p:ph type="sldNum" idx="12"/>
          </p:nvPr>
        </p:nvSpPr>
        <p:spPr>
          <a:xfrm>
            <a:off x="8284791" y="4508205"/>
            <a:ext cx="548700" cy="393600"/>
          </a:xfrm>
        </p:spPr>
        <p:txBody>
          <a:bodyPr/>
          <a:lstStyle/>
          <a:p>
            <a:pPr marL="0" lvl="0" indent="0" algn="r" rtl="0">
              <a:spcBef>
                <a:spcPts val="0"/>
              </a:spcBef>
              <a:spcAft>
                <a:spcPts val="0"/>
              </a:spcAft>
              <a:buNone/>
            </a:pPr>
            <a:fld id="{00000000-1234-1234-1234-123412341234}" type="slidenum">
              <a:rPr lang="en" smtClean="0"/>
              <a:t>10</a:t>
            </a:fld>
            <a:endParaRPr lang="en" dirty="0"/>
          </a:p>
        </p:txBody>
      </p:sp>
      <p:pic>
        <p:nvPicPr>
          <p:cNvPr id="9" name="Picture 8">
            <a:extLst>
              <a:ext uri="{FF2B5EF4-FFF2-40B4-BE49-F238E27FC236}">
                <a16:creationId xmlns:a16="http://schemas.microsoft.com/office/drawing/2014/main" xmlns="" id="{DF4D5BC2-31FD-435B-BC2D-BBBC7C21C84C}"/>
              </a:ext>
            </a:extLst>
          </p:cNvPr>
          <p:cNvPicPr>
            <a:picLocks noChangeAspect="1"/>
          </p:cNvPicPr>
          <p:nvPr/>
        </p:nvPicPr>
        <p:blipFill>
          <a:blip r:embed="rId3"/>
          <a:stretch>
            <a:fillRect/>
          </a:stretch>
        </p:blipFill>
        <p:spPr>
          <a:xfrm>
            <a:off x="1913861" y="808074"/>
            <a:ext cx="4486940" cy="4093731"/>
          </a:xfrm>
          <a:prstGeom prst="rect">
            <a:avLst/>
          </a:prstGeom>
        </p:spPr>
      </p:pic>
    </p:spTree>
    <p:extLst>
      <p:ext uri="{BB962C8B-B14F-4D97-AF65-F5344CB8AC3E}">
        <p14:creationId xmlns:p14="http://schemas.microsoft.com/office/powerpoint/2010/main" val="737204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2680620" y="272892"/>
            <a:ext cx="2932156" cy="369332"/>
          </a:xfrm>
          <a:prstGeom prst="rect">
            <a:avLst/>
          </a:prstGeom>
        </p:spPr>
        <p:txBody>
          <a:bodyPr wrap="square">
            <a:spAutoFit/>
          </a:bodyPr>
          <a:lstStyle/>
          <a:p>
            <a:r>
              <a:rPr lang="en-US" sz="1800" b="1" dirty="0">
                <a:latin typeface="Times New Roman" panose="02020603050405020304" pitchFamily="18" charset="0"/>
                <a:cs typeface="Times New Roman" panose="02020603050405020304" pitchFamily="18" charset="0"/>
              </a:rPr>
              <a:t>Activity diagram for admin</a:t>
            </a:r>
          </a:p>
        </p:txBody>
      </p:sp>
      <p:sp>
        <p:nvSpPr>
          <p:cNvPr id="3" name="Slide Number Placeholder 2">
            <a:extLst>
              <a:ext uri="{FF2B5EF4-FFF2-40B4-BE49-F238E27FC236}">
                <a16:creationId xmlns:a16="http://schemas.microsoft.com/office/drawing/2014/main" xmlns="" id="{B2B56591-AAB4-4FFD-815C-5433B0DEB0BF}"/>
              </a:ext>
            </a:extLst>
          </p:cNvPr>
          <p:cNvSpPr>
            <a:spLocks noGrp="1"/>
          </p:cNvSpPr>
          <p:nvPr>
            <p:ph type="sldNum" idx="12"/>
          </p:nvPr>
        </p:nvSpPr>
        <p:spPr>
          <a:xfrm>
            <a:off x="8316689" y="4339157"/>
            <a:ext cx="548700" cy="393600"/>
          </a:xfrm>
        </p:spPr>
        <p:txBody>
          <a:bodyPr/>
          <a:lstStyle/>
          <a:p>
            <a:pPr marL="0" lvl="0" indent="0" algn="r" rtl="0">
              <a:spcBef>
                <a:spcPts val="0"/>
              </a:spcBef>
              <a:spcAft>
                <a:spcPts val="0"/>
              </a:spcAft>
              <a:buNone/>
            </a:pPr>
            <a:fld id="{00000000-1234-1234-1234-123412341234}" type="slidenum">
              <a:rPr lang="en" smtClean="0"/>
              <a:t>11</a:t>
            </a:fld>
            <a:endParaRPr lang="en" dirty="0"/>
          </a:p>
        </p:txBody>
      </p:sp>
      <p:pic>
        <p:nvPicPr>
          <p:cNvPr id="6" name="Picture 5">
            <a:extLst>
              <a:ext uri="{FF2B5EF4-FFF2-40B4-BE49-F238E27FC236}">
                <a16:creationId xmlns:a16="http://schemas.microsoft.com/office/drawing/2014/main" xmlns="" id="{88C88B1E-F54C-450D-BC34-ACFF159A3244}"/>
              </a:ext>
            </a:extLst>
          </p:cNvPr>
          <p:cNvPicPr>
            <a:picLocks noChangeAspect="1"/>
          </p:cNvPicPr>
          <p:nvPr/>
        </p:nvPicPr>
        <p:blipFill>
          <a:blip r:embed="rId3"/>
          <a:stretch>
            <a:fillRect/>
          </a:stretch>
        </p:blipFill>
        <p:spPr>
          <a:xfrm>
            <a:off x="2041451" y="829340"/>
            <a:ext cx="4210494" cy="3891517"/>
          </a:xfrm>
          <a:prstGeom prst="rect">
            <a:avLst/>
          </a:prstGeom>
        </p:spPr>
      </p:pic>
    </p:spTree>
    <p:extLst>
      <p:ext uri="{BB962C8B-B14F-4D97-AF65-F5344CB8AC3E}">
        <p14:creationId xmlns:p14="http://schemas.microsoft.com/office/powerpoint/2010/main" val="3704268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666205" y="334447"/>
            <a:ext cx="1435008" cy="369332"/>
          </a:xfrm>
          <a:prstGeom prst="rect">
            <a:avLst/>
          </a:prstGeom>
        </p:spPr>
        <p:txBody>
          <a:bodyPr wrap="none">
            <a:spAutoFit/>
          </a:bodyPr>
          <a:lstStyle/>
          <a:p>
            <a:r>
              <a:rPr lang="en-US" sz="1800" b="1" dirty="0">
                <a:latin typeface="Times New Roman" panose="02020603050405020304" pitchFamily="18" charset="0"/>
                <a:cs typeface="Times New Roman" panose="02020603050405020304" pitchFamily="18" charset="0"/>
              </a:rPr>
              <a:t>ER Diagram</a:t>
            </a:r>
          </a:p>
        </p:txBody>
      </p:sp>
      <p:sp>
        <p:nvSpPr>
          <p:cNvPr id="3" name="Slide Number Placeholder 2">
            <a:extLst>
              <a:ext uri="{FF2B5EF4-FFF2-40B4-BE49-F238E27FC236}">
                <a16:creationId xmlns:a16="http://schemas.microsoft.com/office/drawing/2014/main" xmlns="" id="{B2B56591-AAB4-4FFD-815C-5433B0DEB0BF}"/>
              </a:ext>
            </a:extLst>
          </p:cNvPr>
          <p:cNvSpPr>
            <a:spLocks noGrp="1"/>
          </p:cNvSpPr>
          <p:nvPr>
            <p:ph type="sldNum" idx="12"/>
          </p:nvPr>
        </p:nvSpPr>
        <p:spPr>
          <a:xfrm>
            <a:off x="8262349" y="4344958"/>
            <a:ext cx="548700" cy="393600"/>
          </a:xfrm>
        </p:spPr>
        <p:txBody>
          <a:bodyPr/>
          <a:lstStyle/>
          <a:p>
            <a:pPr marL="0" lvl="0" indent="0" algn="r" rtl="0">
              <a:spcBef>
                <a:spcPts val="0"/>
              </a:spcBef>
              <a:spcAft>
                <a:spcPts val="0"/>
              </a:spcAft>
              <a:buNone/>
            </a:pPr>
            <a:fld id="{00000000-1234-1234-1234-123412341234}" type="slidenum">
              <a:rPr lang="en" smtClean="0"/>
              <a:t>12</a:t>
            </a:fld>
            <a:endParaRPr lang="en" dirty="0"/>
          </a:p>
        </p:txBody>
      </p:sp>
      <p:pic>
        <p:nvPicPr>
          <p:cNvPr id="6" name="Picture 5">
            <a:extLst>
              <a:ext uri="{FF2B5EF4-FFF2-40B4-BE49-F238E27FC236}">
                <a16:creationId xmlns:a16="http://schemas.microsoft.com/office/drawing/2014/main" xmlns="" id="{BAD39F71-0D4A-415C-8D57-7BDE17485778}"/>
              </a:ext>
            </a:extLst>
          </p:cNvPr>
          <p:cNvPicPr>
            <a:picLocks noChangeAspect="1"/>
          </p:cNvPicPr>
          <p:nvPr/>
        </p:nvPicPr>
        <p:blipFill>
          <a:blip r:embed="rId3"/>
          <a:stretch>
            <a:fillRect/>
          </a:stretch>
        </p:blipFill>
        <p:spPr>
          <a:xfrm>
            <a:off x="434888" y="643181"/>
            <a:ext cx="8096929" cy="3969977"/>
          </a:xfrm>
          <a:prstGeom prst="rect">
            <a:avLst/>
          </a:prstGeom>
        </p:spPr>
      </p:pic>
    </p:spTree>
    <p:extLst>
      <p:ext uri="{BB962C8B-B14F-4D97-AF65-F5344CB8AC3E}">
        <p14:creationId xmlns:p14="http://schemas.microsoft.com/office/powerpoint/2010/main" val="1106252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569124" y="218849"/>
            <a:ext cx="2018501" cy="338554"/>
          </a:xfrm>
          <a:prstGeom prst="rect">
            <a:avLst/>
          </a:prstGeom>
        </p:spPr>
        <p:txBody>
          <a:bodyPr wrap="none">
            <a:spAutoFit/>
          </a:bodyPr>
          <a:lstStyle/>
          <a:p>
            <a:r>
              <a:rPr lang="en-US" sz="1600" b="1" dirty="0"/>
              <a:t>Signup Test Cases</a:t>
            </a:r>
          </a:p>
        </p:txBody>
      </p:sp>
      <p:sp>
        <p:nvSpPr>
          <p:cNvPr id="3" name="Slide Number Placeholder 2">
            <a:extLst>
              <a:ext uri="{FF2B5EF4-FFF2-40B4-BE49-F238E27FC236}">
                <a16:creationId xmlns:a16="http://schemas.microsoft.com/office/drawing/2014/main" xmlns="" id="{8A2BF940-7B8D-455F-8A58-AC579896FFB0}"/>
              </a:ext>
            </a:extLst>
          </p:cNvPr>
          <p:cNvSpPr>
            <a:spLocks noGrp="1"/>
          </p:cNvSpPr>
          <p:nvPr>
            <p:ph type="sldNum" idx="12"/>
          </p:nvPr>
        </p:nvSpPr>
        <p:spPr>
          <a:xfrm>
            <a:off x="8484787" y="4468509"/>
            <a:ext cx="372139" cy="393600"/>
          </a:xfrm>
        </p:spPr>
        <p:txBody>
          <a:bodyPr/>
          <a:lstStyle/>
          <a:p>
            <a:pPr marL="0" lvl="0" indent="0" algn="r" rtl="0">
              <a:spcBef>
                <a:spcPts val="0"/>
              </a:spcBef>
              <a:spcAft>
                <a:spcPts val="0"/>
              </a:spcAft>
              <a:buNone/>
            </a:pPr>
            <a:fld id="{00000000-1234-1234-1234-123412341234}" type="slidenum">
              <a:rPr lang="en" smtClean="0"/>
              <a:t>13</a:t>
            </a:fld>
            <a:endParaRPr lang="en" dirty="0"/>
          </a:p>
        </p:txBody>
      </p:sp>
      <p:graphicFrame>
        <p:nvGraphicFramePr>
          <p:cNvPr id="7" name="Table 6">
            <a:extLst>
              <a:ext uri="{FF2B5EF4-FFF2-40B4-BE49-F238E27FC236}">
                <a16:creationId xmlns:a16="http://schemas.microsoft.com/office/drawing/2014/main" xmlns="" id="{746590EA-4FC6-4658-91C0-DE85135AC5ED}"/>
              </a:ext>
            </a:extLst>
          </p:cNvPr>
          <p:cNvGraphicFramePr>
            <a:graphicFrameLocks noGrp="1"/>
          </p:cNvGraphicFramePr>
          <p:nvPr>
            <p:extLst>
              <p:ext uri="{D42A27DB-BD31-4B8C-83A1-F6EECF244321}">
                <p14:modId xmlns:p14="http://schemas.microsoft.com/office/powerpoint/2010/main" val="4256416887"/>
              </p:ext>
            </p:extLst>
          </p:nvPr>
        </p:nvGraphicFramePr>
        <p:xfrm>
          <a:off x="478466" y="674991"/>
          <a:ext cx="8038216" cy="4055571"/>
        </p:xfrm>
        <a:graphic>
          <a:graphicData uri="http://schemas.openxmlformats.org/drawingml/2006/table">
            <a:tbl>
              <a:tblPr firstRow="1" bandRow="1">
                <a:tableStyleId>{073A0DAA-6AF3-43AB-8588-CEC1D06C72B9}</a:tableStyleId>
              </a:tblPr>
              <a:tblGrid>
                <a:gridCol w="556131">
                  <a:extLst>
                    <a:ext uri="{9D8B030D-6E8A-4147-A177-3AD203B41FA5}">
                      <a16:colId xmlns:a16="http://schemas.microsoft.com/office/drawing/2014/main" xmlns="" val="2333488955"/>
                    </a:ext>
                  </a:extLst>
                </a:gridCol>
                <a:gridCol w="785129">
                  <a:extLst>
                    <a:ext uri="{9D8B030D-6E8A-4147-A177-3AD203B41FA5}">
                      <a16:colId xmlns:a16="http://schemas.microsoft.com/office/drawing/2014/main" xmlns="" val="3584694288"/>
                    </a:ext>
                  </a:extLst>
                </a:gridCol>
                <a:gridCol w="2103690">
                  <a:extLst>
                    <a:ext uri="{9D8B030D-6E8A-4147-A177-3AD203B41FA5}">
                      <a16:colId xmlns:a16="http://schemas.microsoft.com/office/drawing/2014/main" xmlns="" val="3354675837"/>
                    </a:ext>
                  </a:extLst>
                </a:gridCol>
                <a:gridCol w="1368135">
                  <a:extLst>
                    <a:ext uri="{9D8B030D-6E8A-4147-A177-3AD203B41FA5}">
                      <a16:colId xmlns:a16="http://schemas.microsoft.com/office/drawing/2014/main" xmlns="" val="652196328"/>
                    </a:ext>
                  </a:extLst>
                </a:gridCol>
                <a:gridCol w="1587948">
                  <a:extLst>
                    <a:ext uri="{9D8B030D-6E8A-4147-A177-3AD203B41FA5}">
                      <a16:colId xmlns:a16="http://schemas.microsoft.com/office/drawing/2014/main" xmlns="" val="3332839234"/>
                    </a:ext>
                  </a:extLst>
                </a:gridCol>
                <a:gridCol w="750890">
                  <a:extLst>
                    <a:ext uri="{9D8B030D-6E8A-4147-A177-3AD203B41FA5}">
                      <a16:colId xmlns:a16="http://schemas.microsoft.com/office/drawing/2014/main" xmlns="" val="1997391688"/>
                    </a:ext>
                  </a:extLst>
                </a:gridCol>
                <a:gridCol w="886293">
                  <a:extLst>
                    <a:ext uri="{9D8B030D-6E8A-4147-A177-3AD203B41FA5}">
                      <a16:colId xmlns:a16="http://schemas.microsoft.com/office/drawing/2014/main" xmlns="" val="3167626772"/>
                    </a:ext>
                  </a:extLst>
                </a:gridCol>
              </a:tblGrid>
              <a:tr h="269637">
                <a:tc>
                  <a:txBody>
                    <a:bodyPr/>
                    <a:lstStyle/>
                    <a:p>
                      <a:pPr marL="0" marR="0" algn="just">
                        <a:lnSpc>
                          <a:spcPct val="107000"/>
                        </a:lnSpc>
                        <a:spcBef>
                          <a:spcPts val="0"/>
                        </a:spcBef>
                        <a:spcAft>
                          <a:spcPts val="0"/>
                        </a:spcAft>
                      </a:pPr>
                      <a:r>
                        <a:rPr lang="en-US" sz="1050" dirty="0">
                          <a:solidFill>
                            <a:schemeClr val="bg2">
                              <a:lumMod val="50000"/>
                            </a:schemeClr>
                          </a:solidFill>
                          <a:latin typeface="Times New Roman" panose="02020603050405020304" pitchFamily="18" charset="0"/>
                          <a:cs typeface="Times New Roman" panose="02020603050405020304" pitchFamily="18" charset="0"/>
                        </a:rPr>
                        <a:t>Id</a:t>
                      </a:r>
                    </a:p>
                  </a:txBody>
                  <a:tcPr marL="23681" marR="23681" marT="0" marB="0"/>
                </a:tc>
                <a:tc>
                  <a:txBody>
                    <a:bodyPr/>
                    <a:lstStyle/>
                    <a:p>
                      <a:pPr marL="0" marR="0" algn="just">
                        <a:lnSpc>
                          <a:spcPct val="107000"/>
                        </a:lnSpc>
                        <a:spcBef>
                          <a:spcPts val="0"/>
                        </a:spcBef>
                        <a:spcAft>
                          <a:spcPts val="0"/>
                        </a:spcAft>
                      </a:pPr>
                      <a:r>
                        <a:rPr lang="en-US" sz="1050" dirty="0">
                          <a:solidFill>
                            <a:schemeClr val="bg2">
                              <a:lumMod val="50000"/>
                            </a:schemeClr>
                          </a:solidFill>
                          <a:latin typeface="Times New Roman" panose="02020603050405020304" pitchFamily="18" charset="0"/>
                          <a:cs typeface="Times New Roman" panose="02020603050405020304" pitchFamily="18" charset="0"/>
                        </a:rPr>
                        <a:t>ACTION</a:t>
                      </a:r>
                    </a:p>
                  </a:txBody>
                  <a:tcPr marL="23681" marR="23681" marT="0" marB="0"/>
                </a:tc>
                <a:tc>
                  <a:txBody>
                    <a:bodyPr/>
                    <a:lstStyle/>
                    <a:p>
                      <a:pPr marL="0" marR="0" algn="just">
                        <a:lnSpc>
                          <a:spcPct val="107000"/>
                        </a:lnSpc>
                        <a:spcBef>
                          <a:spcPts val="0"/>
                        </a:spcBef>
                        <a:spcAft>
                          <a:spcPts val="0"/>
                        </a:spcAft>
                      </a:pPr>
                      <a:r>
                        <a:rPr lang="en-US" sz="1050" dirty="0">
                          <a:solidFill>
                            <a:schemeClr val="bg2">
                              <a:lumMod val="50000"/>
                            </a:schemeClr>
                          </a:solidFill>
                          <a:latin typeface="Times New Roman" panose="02020603050405020304" pitchFamily="18" charset="0"/>
                          <a:cs typeface="Times New Roman" panose="02020603050405020304" pitchFamily="18" charset="0"/>
                        </a:rPr>
                        <a:t>Input</a:t>
                      </a:r>
                    </a:p>
                  </a:txBody>
                  <a:tcPr marL="23681" marR="23681" marT="0" marB="0"/>
                </a:tc>
                <a:tc>
                  <a:txBody>
                    <a:bodyPr/>
                    <a:lstStyle/>
                    <a:p>
                      <a:pPr marL="0" marR="0" algn="just">
                        <a:lnSpc>
                          <a:spcPct val="107000"/>
                        </a:lnSpc>
                        <a:spcBef>
                          <a:spcPts val="0"/>
                        </a:spcBef>
                        <a:spcAft>
                          <a:spcPts val="0"/>
                        </a:spcAft>
                      </a:pPr>
                      <a:r>
                        <a:rPr lang="en-US" sz="1050">
                          <a:solidFill>
                            <a:schemeClr val="bg2">
                              <a:lumMod val="50000"/>
                            </a:schemeClr>
                          </a:solidFill>
                          <a:latin typeface="Times New Roman" panose="02020603050405020304" pitchFamily="18" charset="0"/>
                          <a:cs typeface="Times New Roman" panose="02020603050405020304" pitchFamily="18" charset="0"/>
                        </a:rPr>
                        <a:t>Expected Result</a:t>
                      </a:r>
                    </a:p>
                  </a:txBody>
                  <a:tcPr marL="23681" marR="23681" marT="0" marB="0"/>
                </a:tc>
                <a:tc>
                  <a:txBody>
                    <a:bodyPr/>
                    <a:lstStyle/>
                    <a:p>
                      <a:pPr marL="0" marR="0" algn="just">
                        <a:lnSpc>
                          <a:spcPct val="107000"/>
                        </a:lnSpc>
                        <a:spcBef>
                          <a:spcPts val="0"/>
                        </a:spcBef>
                        <a:spcAft>
                          <a:spcPts val="0"/>
                        </a:spcAft>
                      </a:pPr>
                      <a:r>
                        <a:rPr lang="en-US" sz="1050">
                          <a:solidFill>
                            <a:schemeClr val="bg2">
                              <a:lumMod val="50000"/>
                            </a:schemeClr>
                          </a:solidFill>
                          <a:latin typeface="Times New Roman" panose="02020603050405020304" pitchFamily="18" charset="0"/>
                          <a:cs typeface="Times New Roman" panose="02020603050405020304" pitchFamily="18" charset="0"/>
                        </a:rPr>
                        <a:t>Actual Result</a:t>
                      </a:r>
                    </a:p>
                  </a:txBody>
                  <a:tcPr marL="23681" marR="23681" marT="0" marB="0"/>
                </a:tc>
                <a:tc>
                  <a:txBody>
                    <a:bodyPr/>
                    <a:lstStyle/>
                    <a:p>
                      <a:pPr marL="0" marR="0" algn="just">
                        <a:lnSpc>
                          <a:spcPct val="107000"/>
                        </a:lnSpc>
                        <a:spcBef>
                          <a:spcPts val="0"/>
                        </a:spcBef>
                        <a:spcAft>
                          <a:spcPts val="0"/>
                        </a:spcAft>
                      </a:pPr>
                      <a:r>
                        <a:rPr lang="en-US" sz="1050">
                          <a:solidFill>
                            <a:schemeClr val="bg2">
                              <a:lumMod val="50000"/>
                            </a:schemeClr>
                          </a:solidFill>
                          <a:latin typeface="Times New Roman" panose="02020603050405020304" pitchFamily="18" charset="0"/>
                          <a:cs typeface="Times New Roman" panose="02020603050405020304" pitchFamily="18" charset="0"/>
                        </a:rPr>
                        <a:t>Pass/Fail</a:t>
                      </a:r>
                    </a:p>
                  </a:txBody>
                  <a:tcPr marL="23681" marR="23681" marT="0" marB="0"/>
                </a:tc>
                <a:tc>
                  <a:txBody>
                    <a:bodyPr/>
                    <a:lstStyle/>
                    <a:p>
                      <a:pPr marL="0" marR="0" algn="just">
                        <a:lnSpc>
                          <a:spcPct val="107000"/>
                        </a:lnSpc>
                        <a:spcBef>
                          <a:spcPts val="0"/>
                        </a:spcBef>
                        <a:spcAft>
                          <a:spcPts val="0"/>
                        </a:spcAft>
                      </a:pPr>
                      <a:r>
                        <a:rPr lang="en-US" sz="1050" dirty="0">
                          <a:solidFill>
                            <a:schemeClr val="bg2">
                              <a:lumMod val="50000"/>
                            </a:schemeClr>
                          </a:solidFill>
                          <a:latin typeface="Times New Roman" panose="02020603050405020304" pitchFamily="18" charset="0"/>
                          <a:cs typeface="Times New Roman" panose="02020603050405020304" pitchFamily="18" charset="0"/>
                        </a:rPr>
                        <a:t>Code module</a:t>
                      </a:r>
                    </a:p>
                  </a:txBody>
                  <a:tcPr marL="23681" marR="23681" marT="0" marB="0"/>
                </a:tc>
                <a:extLst>
                  <a:ext uri="{0D108BD9-81ED-4DB2-BD59-A6C34878D82A}">
                    <a16:rowId xmlns:a16="http://schemas.microsoft.com/office/drawing/2014/main" xmlns="" val="3533150276"/>
                  </a:ext>
                </a:extLst>
              </a:tr>
              <a:tr h="1072887">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1</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Sign up</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 </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First name: Ripon</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Last name: Sarkar</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Username: </a:t>
                      </a:r>
                      <a:r>
                        <a:rPr lang="en-US" sz="900" dirty="0" err="1">
                          <a:solidFill>
                            <a:schemeClr val="bg2">
                              <a:lumMod val="50000"/>
                            </a:schemeClr>
                          </a:solidFill>
                          <a:latin typeface="Times New Roman" panose="02020603050405020304" pitchFamily="18" charset="0"/>
                          <a:cs typeface="Times New Roman" panose="02020603050405020304" pitchFamily="18" charset="0"/>
                        </a:rPr>
                        <a:t>Rk</a:t>
                      </a:r>
                      <a:endParaRPr lang="en-US" sz="900" dirty="0">
                        <a:solidFill>
                          <a:schemeClr val="bg2">
                            <a:lumMod val="50000"/>
                          </a:schemeClr>
                        </a:solidFill>
                        <a:latin typeface="Times New Roman" panose="02020603050405020304" pitchFamily="18" charset="0"/>
                        <a:cs typeface="Times New Roman" panose="02020603050405020304" pitchFamily="18" charset="0"/>
                      </a:endParaRP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Password: rk200cr7</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Email: rk@gmail.com</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Gender: Male</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Location: Dhaka</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Phone number:0175615afc</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Show error message </a:t>
                      </a:r>
                    </a:p>
                    <a:p>
                      <a:pPr marL="0" marR="0" algn="just">
                        <a:lnSpc>
                          <a:spcPct val="107000"/>
                        </a:lnSpc>
                        <a:spcBef>
                          <a:spcPts val="0"/>
                        </a:spcBef>
                        <a:spcAft>
                          <a:spcPts val="0"/>
                        </a:spcAft>
                      </a:pPr>
                      <a:endParaRPr lang="en-US" sz="900" dirty="0">
                        <a:solidFill>
                          <a:schemeClr val="bg2">
                            <a:lumMod val="50000"/>
                          </a:schemeClr>
                        </a:solidFill>
                        <a:latin typeface="Times New Roman" panose="02020603050405020304" pitchFamily="18" charset="0"/>
                        <a:cs typeface="Times New Roman" panose="02020603050405020304" pitchFamily="18" charset="0"/>
                      </a:endParaRP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phone number is invalid</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Showing error message </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phone number is invalid</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Pass</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Models</a:t>
                      </a:r>
                    </a:p>
                  </a:txBody>
                  <a:tcPr marL="23681" marR="23681" marT="0" marB="0"/>
                </a:tc>
                <a:extLst>
                  <a:ext uri="{0D108BD9-81ED-4DB2-BD59-A6C34878D82A}">
                    <a16:rowId xmlns:a16="http://schemas.microsoft.com/office/drawing/2014/main" xmlns="" val="254461635"/>
                  </a:ext>
                </a:extLst>
              </a:tr>
              <a:tr h="1208131">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2.</a:t>
                      </a:r>
                    </a:p>
                  </a:txBody>
                  <a:tcPr marL="23681" marR="23681" marT="0" marB="0"/>
                </a:tc>
                <a:tc>
                  <a:txBody>
                    <a:bodyPr/>
                    <a:lstStyle/>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Sign up</a:t>
                      </a:r>
                    </a:p>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 </a:t>
                      </a:r>
                    </a:p>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 </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First name: Ripon</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Last name: Sarkar</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Username: </a:t>
                      </a:r>
                      <a:r>
                        <a:rPr lang="en-US" sz="900" dirty="0" err="1">
                          <a:solidFill>
                            <a:schemeClr val="bg2">
                              <a:lumMod val="50000"/>
                            </a:schemeClr>
                          </a:solidFill>
                          <a:latin typeface="Times New Roman" panose="02020603050405020304" pitchFamily="18" charset="0"/>
                          <a:cs typeface="Times New Roman" panose="02020603050405020304" pitchFamily="18" charset="0"/>
                        </a:rPr>
                        <a:t>Rk</a:t>
                      </a:r>
                      <a:endParaRPr lang="en-US" sz="900" dirty="0">
                        <a:solidFill>
                          <a:schemeClr val="bg2">
                            <a:lumMod val="50000"/>
                          </a:schemeClr>
                        </a:solidFill>
                        <a:latin typeface="Times New Roman" panose="02020603050405020304" pitchFamily="18" charset="0"/>
                        <a:cs typeface="Times New Roman" panose="02020603050405020304" pitchFamily="18" charset="0"/>
                      </a:endParaRP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Password: rk200cr7</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Email:</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Gender: Male</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Location: Dhaka</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Phone number:017561545</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Show error message email field required</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Showing error message email filed required</a:t>
                      </a:r>
                    </a:p>
                  </a:txBody>
                  <a:tcPr marL="23681" marR="23681" marT="0" marB="0"/>
                </a:tc>
                <a:tc>
                  <a:txBody>
                    <a:bodyPr/>
                    <a:lstStyle/>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Pass</a:t>
                      </a:r>
                    </a:p>
                  </a:txBody>
                  <a:tcPr marL="23681" marR="23681" marT="0" marB="0"/>
                </a:tc>
                <a:tc>
                  <a:txBody>
                    <a:bodyPr/>
                    <a:lstStyle/>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Models</a:t>
                      </a:r>
                    </a:p>
                  </a:txBody>
                  <a:tcPr marL="23681" marR="23681" marT="0" marB="0"/>
                </a:tc>
                <a:extLst>
                  <a:ext uri="{0D108BD9-81ED-4DB2-BD59-A6C34878D82A}">
                    <a16:rowId xmlns:a16="http://schemas.microsoft.com/office/drawing/2014/main" xmlns="" val="3269968892"/>
                  </a:ext>
                </a:extLst>
              </a:tr>
              <a:tr h="1208131">
                <a:tc>
                  <a:txBody>
                    <a:bodyPr/>
                    <a:lstStyle/>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3.</a:t>
                      </a:r>
                    </a:p>
                  </a:txBody>
                  <a:tcPr marL="23681" marR="23681" marT="0" marB="0"/>
                </a:tc>
                <a:tc>
                  <a:txBody>
                    <a:bodyPr/>
                    <a:lstStyle/>
                    <a:p>
                      <a:pPr marL="0" marR="0" algn="just">
                        <a:lnSpc>
                          <a:spcPct val="107000"/>
                        </a:lnSpc>
                        <a:spcBef>
                          <a:spcPts val="0"/>
                        </a:spcBef>
                        <a:spcAft>
                          <a:spcPts val="0"/>
                        </a:spcAft>
                      </a:pPr>
                      <a:r>
                        <a:rPr lang="en-US" sz="900">
                          <a:solidFill>
                            <a:schemeClr val="bg2">
                              <a:lumMod val="50000"/>
                            </a:schemeClr>
                          </a:solidFill>
                          <a:latin typeface="Times New Roman" panose="02020603050405020304" pitchFamily="18" charset="0"/>
                          <a:cs typeface="Times New Roman" panose="02020603050405020304" pitchFamily="18" charset="0"/>
                        </a:rPr>
                        <a:t>Sign up</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First name: Ripon</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Last name: Sarkar</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Username: </a:t>
                      </a:r>
                      <a:r>
                        <a:rPr lang="en-US" sz="900" dirty="0" err="1">
                          <a:solidFill>
                            <a:schemeClr val="bg2">
                              <a:lumMod val="50000"/>
                            </a:schemeClr>
                          </a:solidFill>
                          <a:latin typeface="Times New Roman" panose="02020603050405020304" pitchFamily="18" charset="0"/>
                          <a:cs typeface="Times New Roman" panose="02020603050405020304" pitchFamily="18" charset="0"/>
                        </a:rPr>
                        <a:t>Rk</a:t>
                      </a:r>
                      <a:endParaRPr lang="en-US" sz="900" dirty="0">
                        <a:solidFill>
                          <a:schemeClr val="bg2">
                            <a:lumMod val="50000"/>
                          </a:schemeClr>
                        </a:solidFill>
                        <a:latin typeface="Times New Roman" panose="02020603050405020304" pitchFamily="18" charset="0"/>
                        <a:cs typeface="Times New Roman" panose="02020603050405020304" pitchFamily="18" charset="0"/>
                      </a:endParaRP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Password: rk200cr7</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Email: rk@gmail.com</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Gender: Male</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Location: Dhaka</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Phone number:017561545</a:t>
                      </a:r>
                    </a:p>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 </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Signup Successful</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Showing success message</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Pass</a:t>
                      </a:r>
                    </a:p>
                  </a:txBody>
                  <a:tcPr marL="23681" marR="23681" marT="0" marB="0"/>
                </a:tc>
                <a:tc>
                  <a:txBody>
                    <a:bodyPr/>
                    <a:lstStyle/>
                    <a:p>
                      <a:pPr marL="0" marR="0" algn="just">
                        <a:lnSpc>
                          <a:spcPct val="107000"/>
                        </a:lnSpc>
                        <a:spcBef>
                          <a:spcPts val="0"/>
                        </a:spcBef>
                        <a:spcAft>
                          <a:spcPts val="0"/>
                        </a:spcAft>
                      </a:pPr>
                      <a:r>
                        <a:rPr lang="en-US" sz="900" dirty="0">
                          <a:solidFill>
                            <a:schemeClr val="bg2">
                              <a:lumMod val="50000"/>
                            </a:schemeClr>
                          </a:solidFill>
                          <a:latin typeface="Times New Roman" panose="02020603050405020304" pitchFamily="18" charset="0"/>
                          <a:cs typeface="Times New Roman" panose="02020603050405020304" pitchFamily="18" charset="0"/>
                        </a:rPr>
                        <a:t>Models</a:t>
                      </a:r>
                    </a:p>
                  </a:txBody>
                  <a:tcPr marL="23681" marR="23681" marT="0" marB="0"/>
                </a:tc>
                <a:extLst>
                  <a:ext uri="{0D108BD9-81ED-4DB2-BD59-A6C34878D82A}">
                    <a16:rowId xmlns:a16="http://schemas.microsoft.com/office/drawing/2014/main" xmlns="" val="441636648"/>
                  </a:ext>
                </a:extLst>
              </a:tr>
            </a:tbl>
          </a:graphicData>
        </a:graphic>
      </p:graphicFrame>
    </p:spTree>
    <p:extLst>
      <p:ext uri="{BB962C8B-B14F-4D97-AF65-F5344CB8AC3E}">
        <p14:creationId xmlns:p14="http://schemas.microsoft.com/office/powerpoint/2010/main" val="358478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102678" y="449039"/>
            <a:ext cx="2266967" cy="338554"/>
          </a:xfrm>
          <a:prstGeom prst="rect">
            <a:avLst/>
          </a:prstGeom>
        </p:spPr>
        <p:txBody>
          <a:bodyPr wrap="none">
            <a:spAutoFit/>
          </a:bodyPr>
          <a:lstStyle/>
          <a:p>
            <a:r>
              <a:rPr lang="en-US" sz="1600" b="1" dirty="0">
                <a:latin typeface="Times New Roman" panose="02020603050405020304" pitchFamily="18" charset="0"/>
                <a:cs typeface="Times New Roman" panose="02020603050405020304" pitchFamily="18" charset="0"/>
              </a:rPr>
              <a:t>Login Module Test case</a:t>
            </a:r>
          </a:p>
        </p:txBody>
      </p:sp>
      <p:sp>
        <p:nvSpPr>
          <p:cNvPr id="3" name="Slide Number Placeholder 2">
            <a:extLst>
              <a:ext uri="{FF2B5EF4-FFF2-40B4-BE49-F238E27FC236}">
                <a16:creationId xmlns:a16="http://schemas.microsoft.com/office/drawing/2014/main" xmlns="" id="{8A2BF940-7B8D-455F-8A58-AC579896FFB0}"/>
              </a:ext>
            </a:extLst>
          </p:cNvPr>
          <p:cNvSpPr>
            <a:spLocks noGrp="1"/>
          </p:cNvSpPr>
          <p:nvPr>
            <p:ph type="sldNum" idx="12"/>
          </p:nvPr>
        </p:nvSpPr>
        <p:spPr>
          <a:xfrm>
            <a:off x="8351877" y="4558051"/>
            <a:ext cx="478464" cy="393600"/>
          </a:xfrm>
        </p:spPr>
        <p:txBody>
          <a:bodyPr/>
          <a:lstStyle/>
          <a:p>
            <a:pPr marL="0" lvl="0" indent="0" algn="r" rtl="0">
              <a:spcBef>
                <a:spcPts val="0"/>
              </a:spcBef>
              <a:spcAft>
                <a:spcPts val="0"/>
              </a:spcAft>
              <a:buNone/>
            </a:pPr>
            <a:fld id="{00000000-1234-1234-1234-123412341234}" type="slidenum">
              <a:rPr lang="en" smtClean="0">
                <a:latin typeface="Times New Roman" panose="02020603050405020304" pitchFamily="18" charset="0"/>
                <a:cs typeface="Times New Roman" panose="02020603050405020304" pitchFamily="18" charset="0"/>
              </a:rPr>
              <a:t>14</a:t>
            </a:fld>
            <a:endParaRPr lang="e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xmlns="" id="{71FB7239-8409-4FB4-AA55-2166B9320A36}"/>
              </a:ext>
            </a:extLst>
          </p:cNvPr>
          <p:cNvGraphicFramePr>
            <a:graphicFrameLocks noGrp="1"/>
          </p:cNvGraphicFramePr>
          <p:nvPr>
            <p:extLst>
              <p:ext uri="{D42A27DB-BD31-4B8C-83A1-F6EECF244321}">
                <p14:modId xmlns:p14="http://schemas.microsoft.com/office/powerpoint/2010/main" val="728128868"/>
              </p:ext>
            </p:extLst>
          </p:nvPr>
        </p:nvGraphicFramePr>
        <p:xfrm>
          <a:off x="637954" y="1177704"/>
          <a:ext cx="7953155" cy="3187036"/>
        </p:xfrm>
        <a:graphic>
          <a:graphicData uri="http://schemas.openxmlformats.org/drawingml/2006/table">
            <a:tbl>
              <a:tblPr firstRow="1" bandRow="1">
                <a:tableStyleId>{073A0DAA-6AF3-43AB-8588-CEC1D06C72B9}</a:tableStyleId>
              </a:tblPr>
              <a:tblGrid>
                <a:gridCol w="584790">
                  <a:extLst>
                    <a:ext uri="{9D8B030D-6E8A-4147-A177-3AD203B41FA5}">
                      <a16:colId xmlns:a16="http://schemas.microsoft.com/office/drawing/2014/main" xmlns="" val="2047054867"/>
                    </a:ext>
                  </a:extLst>
                </a:gridCol>
                <a:gridCol w="818707">
                  <a:extLst>
                    <a:ext uri="{9D8B030D-6E8A-4147-A177-3AD203B41FA5}">
                      <a16:colId xmlns:a16="http://schemas.microsoft.com/office/drawing/2014/main" xmlns="" val="171127058"/>
                    </a:ext>
                  </a:extLst>
                </a:gridCol>
                <a:gridCol w="1424763">
                  <a:extLst>
                    <a:ext uri="{9D8B030D-6E8A-4147-A177-3AD203B41FA5}">
                      <a16:colId xmlns:a16="http://schemas.microsoft.com/office/drawing/2014/main" xmlns="" val="3689910181"/>
                    </a:ext>
                  </a:extLst>
                </a:gridCol>
                <a:gridCol w="1626781">
                  <a:extLst>
                    <a:ext uri="{9D8B030D-6E8A-4147-A177-3AD203B41FA5}">
                      <a16:colId xmlns:a16="http://schemas.microsoft.com/office/drawing/2014/main" xmlns="" val="3917661208"/>
                    </a:ext>
                  </a:extLst>
                </a:gridCol>
                <a:gridCol w="1743740">
                  <a:extLst>
                    <a:ext uri="{9D8B030D-6E8A-4147-A177-3AD203B41FA5}">
                      <a16:colId xmlns:a16="http://schemas.microsoft.com/office/drawing/2014/main" xmlns="" val="396711117"/>
                    </a:ext>
                  </a:extLst>
                </a:gridCol>
                <a:gridCol w="850605">
                  <a:extLst>
                    <a:ext uri="{9D8B030D-6E8A-4147-A177-3AD203B41FA5}">
                      <a16:colId xmlns:a16="http://schemas.microsoft.com/office/drawing/2014/main" xmlns="" val="2138136965"/>
                    </a:ext>
                  </a:extLst>
                </a:gridCol>
                <a:gridCol w="903769">
                  <a:extLst>
                    <a:ext uri="{9D8B030D-6E8A-4147-A177-3AD203B41FA5}">
                      <a16:colId xmlns:a16="http://schemas.microsoft.com/office/drawing/2014/main" xmlns="" val="727821019"/>
                    </a:ext>
                  </a:extLst>
                </a:gridCol>
              </a:tblGrid>
              <a:tr h="483336">
                <a:tc>
                  <a:txBody>
                    <a:bodyPr/>
                    <a:lstStyle/>
                    <a:p>
                      <a:pPr marL="0" marR="0" algn="just">
                        <a:lnSpc>
                          <a:spcPct val="107000"/>
                        </a:lnSpc>
                        <a:spcBef>
                          <a:spcPts val="0"/>
                        </a:spcBef>
                        <a:spcAft>
                          <a:spcPts val="0"/>
                        </a:spcAft>
                      </a:pPr>
                      <a:r>
                        <a:rPr lang="en-US" sz="1200" dirty="0">
                          <a:solidFill>
                            <a:schemeClr val="bg2">
                              <a:lumMod val="50000"/>
                            </a:schemeClr>
                          </a:solidFill>
                        </a:rPr>
                        <a:t>Id</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ACTION</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Input</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Expected Result</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Actual Result</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Pass/Fail</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Code module</a:t>
                      </a:r>
                    </a:p>
                  </a:txBody>
                  <a:tcPr marL="68580" marR="68580" marT="0" marB="0"/>
                </a:tc>
                <a:extLst>
                  <a:ext uri="{0D108BD9-81ED-4DB2-BD59-A6C34878D82A}">
                    <a16:rowId xmlns:a16="http://schemas.microsoft.com/office/drawing/2014/main" xmlns="" val="1633174200"/>
                  </a:ext>
                </a:extLst>
              </a:tr>
              <a:tr h="1235552">
                <a:tc>
                  <a:txBody>
                    <a:bodyPr/>
                    <a:lstStyle/>
                    <a:p>
                      <a:pPr marL="0" marR="0" algn="just">
                        <a:lnSpc>
                          <a:spcPct val="107000"/>
                        </a:lnSpc>
                        <a:spcBef>
                          <a:spcPts val="0"/>
                        </a:spcBef>
                        <a:spcAft>
                          <a:spcPts val="0"/>
                        </a:spcAft>
                      </a:pPr>
                      <a:r>
                        <a:rPr lang="en-US" sz="1200">
                          <a:solidFill>
                            <a:schemeClr val="bg2">
                              <a:lumMod val="50000"/>
                            </a:schemeClr>
                          </a:solidFill>
                        </a:rPr>
                        <a:t>1</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Login</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User name; </a:t>
                      </a:r>
                      <a:r>
                        <a:rPr lang="en-US" sz="1200" dirty="0" err="1">
                          <a:solidFill>
                            <a:schemeClr val="bg2">
                              <a:lumMod val="50000"/>
                            </a:schemeClr>
                          </a:solidFill>
                        </a:rPr>
                        <a:t>Rk</a:t>
                      </a:r>
                      <a:endParaRPr lang="en-US" sz="1200" dirty="0">
                        <a:solidFill>
                          <a:schemeClr val="bg2">
                            <a:lumMod val="50000"/>
                          </a:schemeClr>
                        </a:solidFill>
                      </a:endParaRPr>
                    </a:p>
                    <a:p>
                      <a:pPr marL="0" marR="0" algn="just">
                        <a:lnSpc>
                          <a:spcPct val="107000"/>
                        </a:lnSpc>
                        <a:spcBef>
                          <a:spcPts val="0"/>
                        </a:spcBef>
                        <a:spcAft>
                          <a:spcPts val="0"/>
                        </a:spcAft>
                      </a:pPr>
                      <a:endParaRPr lang="en-US" sz="1200" dirty="0">
                        <a:solidFill>
                          <a:schemeClr val="bg2">
                            <a:lumMod val="50000"/>
                          </a:schemeClr>
                        </a:solidFill>
                      </a:endParaRPr>
                    </a:p>
                    <a:p>
                      <a:pPr marL="0" marR="0" algn="just">
                        <a:lnSpc>
                          <a:spcPct val="107000"/>
                        </a:lnSpc>
                        <a:spcBef>
                          <a:spcPts val="0"/>
                        </a:spcBef>
                        <a:spcAft>
                          <a:spcPts val="0"/>
                        </a:spcAft>
                      </a:pPr>
                      <a:r>
                        <a:rPr lang="en-US" sz="1200" dirty="0">
                          <a:solidFill>
                            <a:schemeClr val="bg2">
                              <a:lumMod val="50000"/>
                            </a:schemeClr>
                          </a:solidFill>
                        </a:rPr>
                        <a:t>Password: abch20</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Show error message </a:t>
                      </a:r>
                    </a:p>
                    <a:p>
                      <a:pPr marL="0" marR="0" algn="just">
                        <a:lnSpc>
                          <a:spcPct val="107000"/>
                        </a:lnSpc>
                        <a:spcBef>
                          <a:spcPts val="0"/>
                        </a:spcBef>
                        <a:spcAft>
                          <a:spcPts val="0"/>
                        </a:spcAft>
                      </a:pPr>
                      <a:endParaRPr lang="en-US" sz="1200" dirty="0">
                        <a:solidFill>
                          <a:schemeClr val="bg2">
                            <a:lumMod val="50000"/>
                          </a:schemeClr>
                        </a:solidFill>
                      </a:endParaRPr>
                    </a:p>
                    <a:p>
                      <a:pPr marL="0" marR="0" algn="just">
                        <a:lnSpc>
                          <a:spcPct val="107000"/>
                        </a:lnSpc>
                        <a:spcBef>
                          <a:spcPts val="0"/>
                        </a:spcBef>
                        <a:spcAft>
                          <a:spcPts val="0"/>
                        </a:spcAft>
                      </a:pPr>
                      <a:r>
                        <a:rPr lang="en-US" sz="1200" dirty="0">
                          <a:solidFill>
                            <a:schemeClr val="bg2">
                              <a:lumMod val="50000"/>
                            </a:schemeClr>
                          </a:solidFill>
                        </a:rPr>
                        <a:t>password don’t match</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Showing error message </a:t>
                      </a:r>
                    </a:p>
                    <a:p>
                      <a:pPr marL="0" marR="0" algn="just">
                        <a:lnSpc>
                          <a:spcPct val="107000"/>
                        </a:lnSpc>
                        <a:spcBef>
                          <a:spcPts val="0"/>
                        </a:spcBef>
                        <a:spcAft>
                          <a:spcPts val="0"/>
                        </a:spcAft>
                      </a:pPr>
                      <a:endParaRPr lang="en-US" sz="1200" dirty="0">
                        <a:solidFill>
                          <a:schemeClr val="bg2">
                            <a:lumMod val="50000"/>
                          </a:schemeClr>
                        </a:solidFill>
                      </a:endParaRPr>
                    </a:p>
                    <a:p>
                      <a:pPr marL="0" marR="0" algn="just">
                        <a:lnSpc>
                          <a:spcPct val="107000"/>
                        </a:lnSpc>
                        <a:spcBef>
                          <a:spcPts val="0"/>
                        </a:spcBef>
                        <a:spcAft>
                          <a:spcPts val="0"/>
                        </a:spcAft>
                      </a:pPr>
                      <a:r>
                        <a:rPr lang="en-US" sz="1200" dirty="0">
                          <a:solidFill>
                            <a:schemeClr val="bg2">
                              <a:lumMod val="50000"/>
                            </a:schemeClr>
                          </a:solidFill>
                        </a:rPr>
                        <a:t>password don’t match</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Pass</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Models</a:t>
                      </a:r>
                    </a:p>
                  </a:txBody>
                  <a:tcPr marL="68580" marR="68580" marT="0" marB="0"/>
                </a:tc>
                <a:extLst>
                  <a:ext uri="{0D108BD9-81ED-4DB2-BD59-A6C34878D82A}">
                    <a16:rowId xmlns:a16="http://schemas.microsoft.com/office/drawing/2014/main" xmlns="" val="550081757"/>
                  </a:ext>
                </a:extLst>
              </a:tr>
              <a:tr h="734074">
                <a:tc>
                  <a:txBody>
                    <a:bodyPr/>
                    <a:lstStyle/>
                    <a:p>
                      <a:pPr marL="0" marR="0" algn="just">
                        <a:lnSpc>
                          <a:spcPct val="107000"/>
                        </a:lnSpc>
                        <a:spcBef>
                          <a:spcPts val="0"/>
                        </a:spcBef>
                        <a:spcAft>
                          <a:spcPts val="0"/>
                        </a:spcAft>
                      </a:pPr>
                      <a:r>
                        <a:rPr lang="en-US" sz="1200">
                          <a:solidFill>
                            <a:schemeClr val="bg2">
                              <a:lumMod val="50000"/>
                            </a:schemeClr>
                          </a:solidFill>
                        </a:rPr>
                        <a:t>2.</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Login</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User name; Rk</a:t>
                      </a:r>
                    </a:p>
                    <a:p>
                      <a:pPr marL="0" marR="0" algn="just">
                        <a:lnSpc>
                          <a:spcPct val="107000"/>
                        </a:lnSpc>
                        <a:spcBef>
                          <a:spcPts val="0"/>
                        </a:spcBef>
                        <a:spcAft>
                          <a:spcPts val="0"/>
                        </a:spcAft>
                      </a:pPr>
                      <a:r>
                        <a:rPr lang="en-US" sz="1200">
                          <a:solidFill>
                            <a:schemeClr val="bg2">
                              <a:lumMod val="50000"/>
                            </a:schemeClr>
                          </a:solidFill>
                        </a:rPr>
                        <a:t>Password: rk200cr007</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Login successful</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Showing success message</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Pass</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Models</a:t>
                      </a:r>
                    </a:p>
                  </a:txBody>
                  <a:tcPr marL="68580" marR="68580" marT="0" marB="0"/>
                </a:tc>
                <a:extLst>
                  <a:ext uri="{0D108BD9-81ED-4DB2-BD59-A6C34878D82A}">
                    <a16:rowId xmlns:a16="http://schemas.microsoft.com/office/drawing/2014/main" xmlns="" val="1601787164"/>
                  </a:ext>
                </a:extLst>
              </a:tr>
              <a:tr h="734074">
                <a:tc>
                  <a:txBody>
                    <a:bodyPr/>
                    <a:lstStyle/>
                    <a:p>
                      <a:pPr marL="0" marR="0" algn="just">
                        <a:lnSpc>
                          <a:spcPct val="107000"/>
                        </a:lnSpc>
                        <a:spcBef>
                          <a:spcPts val="0"/>
                        </a:spcBef>
                        <a:spcAft>
                          <a:spcPts val="0"/>
                        </a:spcAft>
                      </a:pPr>
                      <a:r>
                        <a:rPr lang="en-US" sz="1200">
                          <a:solidFill>
                            <a:schemeClr val="bg2">
                              <a:lumMod val="50000"/>
                            </a:schemeClr>
                          </a:solidFill>
                        </a:rPr>
                        <a:t>2.</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Login</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User name; Rk</a:t>
                      </a:r>
                    </a:p>
                    <a:p>
                      <a:pPr marL="0" marR="0" algn="just">
                        <a:lnSpc>
                          <a:spcPct val="107000"/>
                        </a:lnSpc>
                        <a:spcBef>
                          <a:spcPts val="0"/>
                        </a:spcBef>
                        <a:spcAft>
                          <a:spcPts val="0"/>
                        </a:spcAft>
                      </a:pPr>
                      <a:r>
                        <a:rPr lang="en-US" sz="1200">
                          <a:solidFill>
                            <a:schemeClr val="bg2">
                              <a:lumMod val="50000"/>
                            </a:schemeClr>
                          </a:solidFill>
                        </a:rPr>
                        <a:t>Password: rk200cr007</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Login successful</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Showing success message</a:t>
                      </a:r>
                    </a:p>
                  </a:txBody>
                  <a:tcPr marL="68580" marR="68580" marT="0" marB="0"/>
                </a:tc>
                <a:tc>
                  <a:txBody>
                    <a:bodyPr/>
                    <a:lstStyle/>
                    <a:p>
                      <a:pPr marL="0" marR="0" algn="just">
                        <a:lnSpc>
                          <a:spcPct val="107000"/>
                        </a:lnSpc>
                        <a:spcBef>
                          <a:spcPts val="0"/>
                        </a:spcBef>
                        <a:spcAft>
                          <a:spcPts val="0"/>
                        </a:spcAft>
                      </a:pPr>
                      <a:r>
                        <a:rPr lang="en-US" sz="1200">
                          <a:solidFill>
                            <a:schemeClr val="bg2">
                              <a:lumMod val="50000"/>
                            </a:schemeClr>
                          </a:solidFill>
                        </a:rPr>
                        <a:t>Pass</a:t>
                      </a:r>
                    </a:p>
                  </a:txBody>
                  <a:tcPr marL="68580" marR="68580" marT="0" marB="0"/>
                </a:tc>
                <a:tc>
                  <a:txBody>
                    <a:bodyPr/>
                    <a:lstStyle/>
                    <a:p>
                      <a:pPr marL="0" marR="0" algn="just">
                        <a:lnSpc>
                          <a:spcPct val="107000"/>
                        </a:lnSpc>
                        <a:spcBef>
                          <a:spcPts val="0"/>
                        </a:spcBef>
                        <a:spcAft>
                          <a:spcPts val="0"/>
                        </a:spcAft>
                      </a:pPr>
                      <a:r>
                        <a:rPr lang="en-US" sz="1200" dirty="0">
                          <a:solidFill>
                            <a:schemeClr val="bg2">
                              <a:lumMod val="50000"/>
                            </a:schemeClr>
                          </a:solidFill>
                        </a:rPr>
                        <a:t>Models</a:t>
                      </a:r>
                    </a:p>
                  </a:txBody>
                  <a:tcPr marL="68580" marR="68580" marT="0" marB="0"/>
                </a:tc>
                <a:extLst>
                  <a:ext uri="{0D108BD9-81ED-4DB2-BD59-A6C34878D82A}">
                    <a16:rowId xmlns:a16="http://schemas.microsoft.com/office/drawing/2014/main" xmlns="" val="1727905554"/>
                  </a:ext>
                </a:extLst>
              </a:tr>
            </a:tbl>
          </a:graphicData>
        </a:graphic>
      </p:graphicFrame>
    </p:spTree>
    <p:extLst>
      <p:ext uri="{BB962C8B-B14F-4D97-AF65-F5344CB8AC3E}">
        <p14:creationId xmlns:p14="http://schemas.microsoft.com/office/powerpoint/2010/main" val="2916424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8A2BF940-7B8D-455F-8A58-AC579896FFB0}"/>
              </a:ext>
            </a:extLst>
          </p:cNvPr>
          <p:cNvSpPr>
            <a:spLocks noGrp="1"/>
          </p:cNvSpPr>
          <p:nvPr>
            <p:ph type="sldNum" idx="12"/>
          </p:nvPr>
        </p:nvSpPr>
        <p:spPr>
          <a:xfrm>
            <a:off x="8506046" y="4377671"/>
            <a:ext cx="372139" cy="393600"/>
          </a:xfrm>
        </p:spPr>
        <p:txBody>
          <a:bodyPr/>
          <a:lstStyle/>
          <a:p>
            <a:pPr marL="0" lvl="0" indent="0" algn="r" rtl="0">
              <a:spcBef>
                <a:spcPts val="0"/>
              </a:spcBef>
              <a:spcAft>
                <a:spcPts val="0"/>
              </a:spcAft>
              <a:buNone/>
            </a:pPr>
            <a:fld id="{00000000-1234-1234-1234-123412341234}" type="slidenum">
              <a:rPr lang="en" smtClean="0">
                <a:latin typeface="Times New Roman" panose="02020603050405020304" pitchFamily="18" charset="0"/>
                <a:cs typeface="Times New Roman" panose="02020603050405020304" pitchFamily="18" charset="0"/>
              </a:rPr>
              <a:t>15</a:t>
            </a:fld>
            <a:endParaRPr lang="en"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xmlns="" id="{C8444E17-EC5F-4D23-A558-2C36926B9221}"/>
              </a:ext>
            </a:extLst>
          </p:cNvPr>
          <p:cNvSpPr/>
          <p:nvPr/>
        </p:nvSpPr>
        <p:spPr>
          <a:xfrm>
            <a:off x="3090685" y="461173"/>
            <a:ext cx="2589170" cy="369332"/>
          </a:xfrm>
          <a:prstGeom prst="rect">
            <a:avLst/>
          </a:prstGeom>
        </p:spPr>
        <p:txBody>
          <a:bodyPr wrap="none">
            <a:spAutoFit/>
          </a:bodyPr>
          <a:lstStyle/>
          <a:p>
            <a:r>
              <a:rPr lang="en-US" sz="1800" b="1" dirty="0">
                <a:latin typeface="Times New Roman" panose="02020603050405020304" pitchFamily="18" charset="0"/>
                <a:ea typeface="Calibri" panose="020F0502020204030204" pitchFamily="34" charset="0"/>
                <a:cs typeface="Times New Roman" panose="02020603050405020304" pitchFamily="18" charset="0"/>
              </a:rPr>
              <a:t>Search module test Case</a:t>
            </a:r>
            <a:endParaRPr lang="en-US" sz="18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xmlns="" id="{28C331BB-04D5-4D2E-9493-D28F2349F316}"/>
              </a:ext>
            </a:extLst>
          </p:cNvPr>
          <p:cNvGraphicFramePr>
            <a:graphicFrameLocks noGrp="1"/>
          </p:cNvGraphicFramePr>
          <p:nvPr>
            <p:extLst>
              <p:ext uri="{D42A27DB-BD31-4B8C-83A1-F6EECF244321}">
                <p14:modId xmlns:p14="http://schemas.microsoft.com/office/powerpoint/2010/main" val="630598414"/>
              </p:ext>
            </p:extLst>
          </p:nvPr>
        </p:nvGraphicFramePr>
        <p:xfrm>
          <a:off x="856092" y="1197206"/>
          <a:ext cx="7431814" cy="3087715"/>
        </p:xfrm>
        <a:graphic>
          <a:graphicData uri="http://schemas.openxmlformats.org/drawingml/2006/table">
            <a:tbl>
              <a:tblPr firstRow="1" bandRow="1">
                <a:tableStyleId>{073A0DAA-6AF3-43AB-8588-CEC1D06C72B9}</a:tableStyleId>
              </a:tblPr>
              <a:tblGrid>
                <a:gridCol w="531284">
                  <a:extLst>
                    <a:ext uri="{9D8B030D-6E8A-4147-A177-3AD203B41FA5}">
                      <a16:colId xmlns:a16="http://schemas.microsoft.com/office/drawing/2014/main" xmlns="" val="415787536"/>
                    </a:ext>
                  </a:extLst>
                </a:gridCol>
                <a:gridCol w="973051">
                  <a:extLst>
                    <a:ext uri="{9D8B030D-6E8A-4147-A177-3AD203B41FA5}">
                      <a16:colId xmlns:a16="http://schemas.microsoft.com/office/drawing/2014/main" xmlns="" val="4250375416"/>
                    </a:ext>
                  </a:extLst>
                </a:gridCol>
                <a:gridCol w="925032">
                  <a:extLst>
                    <a:ext uri="{9D8B030D-6E8A-4147-A177-3AD203B41FA5}">
                      <a16:colId xmlns:a16="http://schemas.microsoft.com/office/drawing/2014/main" xmlns="" val="2746312372"/>
                    </a:ext>
                  </a:extLst>
                </a:gridCol>
                <a:gridCol w="1489293">
                  <a:extLst>
                    <a:ext uri="{9D8B030D-6E8A-4147-A177-3AD203B41FA5}">
                      <a16:colId xmlns:a16="http://schemas.microsoft.com/office/drawing/2014/main" xmlns="" val="1710575677"/>
                    </a:ext>
                  </a:extLst>
                </a:gridCol>
                <a:gridCol w="1796168">
                  <a:extLst>
                    <a:ext uri="{9D8B030D-6E8A-4147-A177-3AD203B41FA5}">
                      <a16:colId xmlns:a16="http://schemas.microsoft.com/office/drawing/2014/main" xmlns="" val="3205213310"/>
                    </a:ext>
                  </a:extLst>
                </a:gridCol>
                <a:gridCol w="861237">
                  <a:extLst>
                    <a:ext uri="{9D8B030D-6E8A-4147-A177-3AD203B41FA5}">
                      <a16:colId xmlns:a16="http://schemas.microsoft.com/office/drawing/2014/main" xmlns="" val="2547467420"/>
                    </a:ext>
                  </a:extLst>
                </a:gridCol>
                <a:gridCol w="855749">
                  <a:extLst>
                    <a:ext uri="{9D8B030D-6E8A-4147-A177-3AD203B41FA5}">
                      <a16:colId xmlns:a16="http://schemas.microsoft.com/office/drawing/2014/main" xmlns="" val="3594421822"/>
                    </a:ext>
                  </a:extLst>
                </a:gridCol>
              </a:tblGrid>
              <a:tr h="470489">
                <a:tc>
                  <a:txBody>
                    <a:bodyPr/>
                    <a:lstStyle/>
                    <a:p>
                      <a:pPr marL="0" marR="0" algn="just">
                        <a:lnSpc>
                          <a:spcPct val="107000"/>
                        </a:lnSpc>
                        <a:spcBef>
                          <a:spcPts val="0"/>
                        </a:spcBef>
                        <a:spcAft>
                          <a:spcPts val="0"/>
                        </a:spcAft>
                      </a:pPr>
                      <a:r>
                        <a:rPr lang="en-US" sz="1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Input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Expected Result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Actual Result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Pass/Fail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Code module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99332744"/>
                  </a:ext>
                </a:extLst>
              </a:tr>
              <a:tr h="711641">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Search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Search for Dhaka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Show all post of Dhaka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Showing all post of Dhaka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Pass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Views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044079216"/>
                  </a:ext>
                </a:extLst>
              </a:tr>
              <a:tr h="711641">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Search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Search for watch</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Show all post of watch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Showing all post of watch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Pass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Views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647393754"/>
                  </a:ext>
                </a:extLst>
              </a:tr>
              <a:tr h="1193944">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Search</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Search for 1253A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Show error message invalid keyword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Showing error message invalid keyword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Fail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Views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056607132"/>
                  </a:ext>
                </a:extLst>
              </a:tr>
            </a:tbl>
          </a:graphicData>
        </a:graphic>
      </p:graphicFrame>
    </p:spTree>
    <p:extLst>
      <p:ext uri="{BB962C8B-B14F-4D97-AF65-F5344CB8AC3E}">
        <p14:creationId xmlns:p14="http://schemas.microsoft.com/office/powerpoint/2010/main" val="1777280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260422" y="252239"/>
            <a:ext cx="2523690" cy="338554"/>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Found Post test case</a:t>
            </a:r>
          </a:p>
        </p:txBody>
      </p:sp>
      <p:sp>
        <p:nvSpPr>
          <p:cNvPr id="3" name="Slide Number Placeholder 2">
            <a:extLst>
              <a:ext uri="{FF2B5EF4-FFF2-40B4-BE49-F238E27FC236}">
                <a16:creationId xmlns:a16="http://schemas.microsoft.com/office/drawing/2014/main" xmlns="" id="{8A2BF940-7B8D-455F-8A58-AC579896FFB0}"/>
              </a:ext>
            </a:extLst>
          </p:cNvPr>
          <p:cNvSpPr>
            <a:spLocks noGrp="1"/>
          </p:cNvSpPr>
          <p:nvPr>
            <p:ph type="sldNum" idx="12"/>
          </p:nvPr>
        </p:nvSpPr>
        <p:spPr>
          <a:xfrm>
            <a:off x="8431619" y="4515895"/>
            <a:ext cx="372139" cy="393600"/>
          </a:xfrm>
        </p:spPr>
        <p:txBody>
          <a:bodyPr/>
          <a:lstStyle/>
          <a:p>
            <a:pPr marL="0" lvl="0" indent="0" algn="r" rtl="0">
              <a:spcBef>
                <a:spcPts val="0"/>
              </a:spcBef>
              <a:spcAft>
                <a:spcPts val="0"/>
              </a:spcAft>
              <a:buNone/>
            </a:pPr>
            <a:fld id="{00000000-1234-1234-1234-123412341234}" type="slidenum">
              <a:rPr lang="en" smtClean="0"/>
              <a:t>16</a:t>
            </a:fld>
            <a:endParaRPr lang="en" dirty="0"/>
          </a:p>
        </p:txBody>
      </p:sp>
      <p:graphicFrame>
        <p:nvGraphicFramePr>
          <p:cNvPr id="2" name="Table 1">
            <a:extLst>
              <a:ext uri="{FF2B5EF4-FFF2-40B4-BE49-F238E27FC236}">
                <a16:creationId xmlns:a16="http://schemas.microsoft.com/office/drawing/2014/main" xmlns="" id="{0DBFA934-18DC-403C-B337-C151F04A47A0}"/>
              </a:ext>
            </a:extLst>
          </p:cNvPr>
          <p:cNvGraphicFramePr>
            <a:graphicFrameLocks noGrp="1"/>
          </p:cNvGraphicFramePr>
          <p:nvPr>
            <p:extLst>
              <p:ext uri="{D42A27DB-BD31-4B8C-83A1-F6EECF244321}">
                <p14:modId xmlns:p14="http://schemas.microsoft.com/office/powerpoint/2010/main" val="1561226405"/>
              </p:ext>
            </p:extLst>
          </p:nvPr>
        </p:nvGraphicFramePr>
        <p:xfrm>
          <a:off x="552893" y="645839"/>
          <a:ext cx="7846828" cy="3958140"/>
        </p:xfrm>
        <a:graphic>
          <a:graphicData uri="http://schemas.openxmlformats.org/drawingml/2006/table">
            <a:tbl>
              <a:tblPr firstRow="1" bandRow="1">
                <a:tableStyleId>{073A0DAA-6AF3-43AB-8588-CEC1D06C72B9}</a:tableStyleId>
              </a:tblPr>
              <a:tblGrid>
                <a:gridCol w="558188">
                  <a:extLst>
                    <a:ext uri="{9D8B030D-6E8A-4147-A177-3AD203B41FA5}">
                      <a16:colId xmlns:a16="http://schemas.microsoft.com/office/drawing/2014/main" xmlns="" val="1580115645"/>
                    </a:ext>
                  </a:extLst>
                </a:gridCol>
                <a:gridCol w="1195521">
                  <a:extLst>
                    <a:ext uri="{9D8B030D-6E8A-4147-A177-3AD203B41FA5}">
                      <a16:colId xmlns:a16="http://schemas.microsoft.com/office/drawing/2014/main" xmlns="" val="2753649201"/>
                    </a:ext>
                  </a:extLst>
                </a:gridCol>
                <a:gridCol w="2403621">
                  <a:extLst>
                    <a:ext uri="{9D8B030D-6E8A-4147-A177-3AD203B41FA5}">
                      <a16:colId xmlns:a16="http://schemas.microsoft.com/office/drawing/2014/main" xmlns="" val="2858732818"/>
                    </a:ext>
                  </a:extLst>
                </a:gridCol>
                <a:gridCol w="800774">
                  <a:extLst>
                    <a:ext uri="{9D8B030D-6E8A-4147-A177-3AD203B41FA5}">
                      <a16:colId xmlns:a16="http://schemas.microsoft.com/office/drawing/2014/main" xmlns="" val="3583722657"/>
                    </a:ext>
                  </a:extLst>
                </a:gridCol>
                <a:gridCol w="1050445">
                  <a:extLst>
                    <a:ext uri="{9D8B030D-6E8A-4147-A177-3AD203B41FA5}">
                      <a16:colId xmlns:a16="http://schemas.microsoft.com/office/drawing/2014/main" xmlns="" val="2309372488"/>
                    </a:ext>
                  </a:extLst>
                </a:gridCol>
                <a:gridCol w="661781">
                  <a:extLst>
                    <a:ext uri="{9D8B030D-6E8A-4147-A177-3AD203B41FA5}">
                      <a16:colId xmlns:a16="http://schemas.microsoft.com/office/drawing/2014/main" xmlns="" val="4133214202"/>
                    </a:ext>
                  </a:extLst>
                </a:gridCol>
                <a:gridCol w="1176498">
                  <a:extLst>
                    <a:ext uri="{9D8B030D-6E8A-4147-A177-3AD203B41FA5}">
                      <a16:colId xmlns:a16="http://schemas.microsoft.com/office/drawing/2014/main" xmlns="" val="4185910774"/>
                    </a:ext>
                  </a:extLst>
                </a:gridCol>
              </a:tblGrid>
              <a:tr h="354460">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Id</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ACTION</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Input</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Expected Result</a:t>
                      </a:r>
                      <a:endParaRPr lang="en-US" sz="10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Actual Result</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Pass/Fail</a:t>
                      </a:r>
                      <a:endParaRPr lang="en-US" sz="10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Code module</a:t>
                      </a:r>
                      <a:endParaRPr lang="en-US" sz="10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extLst>
                  <a:ext uri="{0D108BD9-81ED-4DB2-BD59-A6C34878D82A}">
                    <a16:rowId xmlns:a16="http://schemas.microsoft.com/office/drawing/2014/main" xmlns="" val="329012570"/>
                  </a:ext>
                </a:extLst>
              </a:tr>
              <a:tr h="1998082">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Create lost post for person</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Title: </a:t>
                      </a:r>
                      <a:r>
                        <a:rPr lang="en-US" sz="1100" dirty="0" err="1">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Antar</a:t>
                      </a: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is missing</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Name: </a:t>
                      </a:r>
                      <a:r>
                        <a:rPr lang="en-US" sz="1100" dirty="0" err="1">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Antar</a:t>
                      </a: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100" dirty="0" err="1">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mohit</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Phone:018665665</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Email: antar@gmail.com</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Location: Dhaka</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Body color: White</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Father: AB </a:t>
                      </a:r>
                      <a:r>
                        <a:rPr lang="en-US" sz="1100" dirty="0" err="1">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mia</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Mother name: </a:t>
                      </a:r>
                      <a:r>
                        <a:rPr lang="en-US" sz="1100" dirty="0" err="1">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rupta</a:t>
                      </a: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khatun</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Secret information: Red eye glass</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Identification mark: Spot on chest.</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Show success message</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Showing success message</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Pass</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Forms and views</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extLst>
                  <a:ext uri="{0D108BD9-81ED-4DB2-BD59-A6C34878D82A}">
                    <a16:rowId xmlns:a16="http://schemas.microsoft.com/office/drawing/2014/main" xmlns="" val="1228342565"/>
                  </a:ext>
                </a:extLst>
              </a:tr>
              <a:tr h="1444544">
                <a:tc>
                  <a:txBody>
                    <a:bodyPr/>
                    <a:lstStyle/>
                    <a:p>
                      <a:pPr marL="0" marR="0">
                        <a:lnSpc>
                          <a:spcPct val="107000"/>
                        </a:lnSpc>
                        <a:spcBef>
                          <a:spcPts val="0"/>
                        </a:spcBef>
                        <a:spcAft>
                          <a:spcPts val="0"/>
                        </a:spcAft>
                      </a:pPr>
                      <a:r>
                        <a:rPr lang="en-US" sz="11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10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Create lost post for item</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Title: laptop is missing</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Name: </a:t>
                      </a:r>
                      <a:r>
                        <a:rPr lang="en-US" sz="1100" dirty="0" err="1">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Antar</a:t>
                      </a: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100" dirty="0" err="1">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mohit</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Phone:018665665</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Email: antar@gmail.com</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Location: </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Item name: Hp Laptop</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Secret information: Back side broken</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Identification mark: Laptop serial number</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Show Error message Location field required.</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Showing error message</a:t>
                      </a:r>
                      <a:endParaRPr lang="en-US" sz="10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Pass</a:t>
                      </a:r>
                      <a:endParaRPr lang="en-US" sz="10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Forms and views</a:t>
                      </a:r>
                      <a:endParaRPr lang="en-US" sz="10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extLst>
                  <a:ext uri="{0D108BD9-81ED-4DB2-BD59-A6C34878D82A}">
                    <a16:rowId xmlns:a16="http://schemas.microsoft.com/office/drawing/2014/main" xmlns="" val="2637209379"/>
                  </a:ext>
                </a:extLst>
              </a:tr>
            </a:tbl>
          </a:graphicData>
        </a:graphic>
      </p:graphicFrame>
    </p:spTree>
    <p:extLst>
      <p:ext uri="{BB962C8B-B14F-4D97-AF65-F5344CB8AC3E}">
        <p14:creationId xmlns:p14="http://schemas.microsoft.com/office/powerpoint/2010/main" val="1981418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260422" y="252239"/>
            <a:ext cx="2523690" cy="338554"/>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Found Post test case</a:t>
            </a:r>
          </a:p>
        </p:txBody>
      </p:sp>
      <p:sp>
        <p:nvSpPr>
          <p:cNvPr id="3" name="Slide Number Placeholder 2">
            <a:extLst>
              <a:ext uri="{FF2B5EF4-FFF2-40B4-BE49-F238E27FC236}">
                <a16:creationId xmlns:a16="http://schemas.microsoft.com/office/drawing/2014/main" xmlns="" id="{8A2BF940-7B8D-455F-8A58-AC579896FFB0}"/>
              </a:ext>
            </a:extLst>
          </p:cNvPr>
          <p:cNvSpPr>
            <a:spLocks noGrp="1"/>
          </p:cNvSpPr>
          <p:nvPr>
            <p:ph type="sldNum" idx="12"/>
          </p:nvPr>
        </p:nvSpPr>
        <p:spPr>
          <a:xfrm>
            <a:off x="8532627" y="4356406"/>
            <a:ext cx="372139" cy="393600"/>
          </a:xfrm>
        </p:spPr>
        <p:txBody>
          <a:bodyPr/>
          <a:lstStyle/>
          <a:p>
            <a:pPr marL="0" lvl="0" indent="0" algn="r" rtl="0">
              <a:spcBef>
                <a:spcPts val="0"/>
              </a:spcBef>
              <a:spcAft>
                <a:spcPts val="0"/>
              </a:spcAft>
              <a:buNone/>
            </a:pPr>
            <a:fld id="{00000000-1234-1234-1234-123412341234}" type="slidenum">
              <a:rPr lang="en" smtClean="0"/>
              <a:t>17</a:t>
            </a:fld>
            <a:endParaRPr lang="en" dirty="0"/>
          </a:p>
        </p:txBody>
      </p:sp>
      <p:graphicFrame>
        <p:nvGraphicFramePr>
          <p:cNvPr id="2" name="Table 1">
            <a:extLst>
              <a:ext uri="{FF2B5EF4-FFF2-40B4-BE49-F238E27FC236}">
                <a16:creationId xmlns:a16="http://schemas.microsoft.com/office/drawing/2014/main" xmlns="" id="{0DBFA934-18DC-403C-B337-C151F04A47A0}"/>
              </a:ext>
            </a:extLst>
          </p:cNvPr>
          <p:cNvGraphicFramePr>
            <a:graphicFrameLocks noGrp="1"/>
          </p:cNvGraphicFramePr>
          <p:nvPr>
            <p:extLst>
              <p:ext uri="{D42A27DB-BD31-4B8C-83A1-F6EECF244321}">
                <p14:modId xmlns:p14="http://schemas.microsoft.com/office/powerpoint/2010/main" val="266787021"/>
              </p:ext>
            </p:extLst>
          </p:nvPr>
        </p:nvGraphicFramePr>
        <p:xfrm>
          <a:off x="425303" y="645841"/>
          <a:ext cx="7942521" cy="4009130"/>
        </p:xfrm>
        <a:graphic>
          <a:graphicData uri="http://schemas.openxmlformats.org/drawingml/2006/table">
            <a:tbl>
              <a:tblPr firstRow="1" bandRow="1">
                <a:tableStyleId>{073A0DAA-6AF3-43AB-8588-CEC1D06C72B9}</a:tableStyleId>
              </a:tblPr>
              <a:tblGrid>
                <a:gridCol w="564995">
                  <a:extLst>
                    <a:ext uri="{9D8B030D-6E8A-4147-A177-3AD203B41FA5}">
                      <a16:colId xmlns:a16="http://schemas.microsoft.com/office/drawing/2014/main" xmlns="" val="1580115645"/>
                    </a:ext>
                  </a:extLst>
                </a:gridCol>
                <a:gridCol w="976725">
                  <a:extLst>
                    <a:ext uri="{9D8B030D-6E8A-4147-A177-3AD203B41FA5}">
                      <a16:colId xmlns:a16="http://schemas.microsoft.com/office/drawing/2014/main" xmlns="" val="2753649201"/>
                    </a:ext>
                  </a:extLst>
                </a:gridCol>
                <a:gridCol w="2488019">
                  <a:extLst>
                    <a:ext uri="{9D8B030D-6E8A-4147-A177-3AD203B41FA5}">
                      <a16:colId xmlns:a16="http://schemas.microsoft.com/office/drawing/2014/main" xmlns="" val="2858732818"/>
                    </a:ext>
                  </a:extLst>
                </a:gridCol>
                <a:gridCol w="1201479">
                  <a:extLst>
                    <a:ext uri="{9D8B030D-6E8A-4147-A177-3AD203B41FA5}">
                      <a16:colId xmlns:a16="http://schemas.microsoft.com/office/drawing/2014/main" xmlns="" val="3583722657"/>
                    </a:ext>
                  </a:extLst>
                </a:gridCol>
                <a:gridCol w="1127051">
                  <a:extLst>
                    <a:ext uri="{9D8B030D-6E8A-4147-A177-3AD203B41FA5}">
                      <a16:colId xmlns:a16="http://schemas.microsoft.com/office/drawing/2014/main" xmlns="" val="2309372488"/>
                    </a:ext>
                  </a:extLst>
                </a:gridCol>
                <a:gridCol w="786809">
                  <a:extLst>
                    <a:ext uri="{9D8B030D-6E8A-4147-A177-3AD203B41FA5}">
                      <a16:colId xmlns:a16="http://schemas.microsoft.com/office/drawing/2014/main" xmlns="" val="4133214202"/>
                    </a:ext>
                  </a:extLst>
                </a:gridCol>
                <a:gridCol w="797443">
                  <a:extLst>
                    <a:ext uri="{9D8B030D-6E8A-4147-A177-3AD203B41FA5}">
                      <a16:colId xmlns:a16="http://schemas.microsoft.com/office/drawing/2014/main" xmlns="" val="4185910774"/>
                    </a:ext>
                  </a:extLst>
                </a:gridCol>
              </a:tblGrid>
              <a:tr h="381323">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Id</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ACTION</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Input</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Expected Result</a:t>
                      </a:r>
                      <a:endParaRPr lang="en-US" sz="105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Actual Result</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Pass/Fail</a:t>
                      </a:r>
                      <a:endParaRPr lang="en-US" sz="105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Code module</a:t>
                      </a:r>
                      <a:endParaRPr lang="en-US" sz="105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extLst>
                  <a:ext uri="{0D108BD9-81ED-4DB2-BD59-A6C34878D82A}">
                    <a16:rowId xmlns:a16="http://schemas.microsoft.com/office/drawing/2014/main" xmlns="" val="329012570"/>
                  </a:ext>
                </a:extLst>
              </a:tr>
              <a:tr h="1756469">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Create found post for person</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Title: Found a person</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Name: Jibon Ahmed</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Phone:01987132107</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Email: jibon@gmail.com</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Location: Dhaka</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Body color: White</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Father: </a:t>
                      </a:r>
                      <a:r>
                        <a:rPr lang="en-US" sz="1200" dirty="0" err="1">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Shakhawat</a:t>
                      </a: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Hossain</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Mother name: </a:t>
                      </a:r>
                      <a:r>
                        <a:rPr lang="en-US" sz="1200" dirty="0" err="1">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Zobida</a:t>
                      </a: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Begum</a:t>
                      </a: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Secret information: left hand problem</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Identification mark: Spot on chest.</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Show success message</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Showing success message</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Pass</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Forms and views</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extLst>
                  <a:ext uri="{0D108BD9-81ED-4DB2-BD59-A6C34878D82A}">
                    <a16:rowId xmlns:a16="http://schemas.microsoft.com/office/drawing/2014/main" xmlns="" val="1228342565"/>
                  </a:ext>
                </a:extLst>
              </a:tr>
              <a:tr h="1660646">
                <a:tc>
                  <a:txBody>
                    <a:bodyPr/>
                    <a:lstStyle/>
                    <a:p>
                      <a:pPr marL="0" marR="0">
                        <a:lnSpc>
                          <a:spcPct val="107000"/>
                        </a:lnSpc>
                        <a:spcBef>
                          <a:spcPts val="0"/>
                        </a:spcBef>
                        <a:spcAft>
                          <a:spcPts val="0"/>
                        </a:spcAft>
                      </a:pPr>
                      <a:r>
                        <a:rPr lang="en-US" sz="12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105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Create found post for item</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Title: Today I found phone</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Name: </a:t>
                      </a:r>
                      <a:r>
                        <a:rPr lang="en-US" sz="1200" dirty="0" err="1">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Jayed</a:t>
                      </a: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Hossain</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Phone:018665665</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Email: jayed@gmail.com</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Location: Dhaka</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Item name: symphony T60</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Secret information: two sim</a:t>
                      </a:r>
                    </a:p>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Identification mark: </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Show Error Identification mark field required.</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Showing error message</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Pass</a:t>
                      </a:r>
                      <a:endParaRPr lang="en-US" sz="105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tc>
                  <a:txBody>
                    <a:bodyPr/>
                    <a:lstStyle/>
                    <a:p>
                      <a:pPr marL="0" marR="0">
                        <a:lnSpc>
                          <a:spcPct val="107000"/>
                        </a:lnSpc>
                        <a:spcBef>
                          <a:spcPts val="0"/>
                        </a:spcBef>
                        <a:spcAft>
                          <a:spcPts val="0"/>
                        </a:spcAft>
                      </a:pPr>
                      <a:r>
                        <a:rPr lang="en-US" sz="12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Forms and views</a:t>
                      </a:r>
                      <a:endParaRPr lang="en-US" sz="105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2770" marR="62770" marT="0" marB="0"/>
                </a:tc>
                <a:extLst>
                  <a:ext uri="{0D108BD9-81ED-4DB2-BD59-A6C34878D82A}">
                    <a16:rowId xmlns:a16="http://schemas.microsoft.com/office/drawing/2014/main" xmlns="" val="2637209379"/>
                  </a:ext>
                </a:extLst>
              </a:tr>
            </a:tbl>
          </a:graphicData>
        </a:graphic>
      </p:graphicFrame>
    </p:spTree>
    <p:extLst>
      <p:ext uri="{BB962C8B-B14F-4D97-AF65-F5344CB8AC3E}">
        <p14:creationId xmlns:p14="http://schemas.microsoft.com/office/powerpoint/2010/main" val="2791472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683939" y="307285"/>
            <a:ext cx="1191352" cy="369332"/>
          </a:xfrm>
          <a:prstGeom prst="rect">
            <a:avLst/>
          </a:prstGeom>
        </p:spPr>
        <p:txBody>
          <a:bodyPr wrap="none">
            <a:spAutoFit/>
          </a:bodyPr>
          <a:lstStyle/>
          <a:p>
            <a:pPr algn="ctr"/>
            <a:r>
              <a:rPr lang="en-US" sz="1800" b="1" dirty="0">
                <a:latin typeface="Times New Roman" panose="02020603050405020304" pitchFamily="18" charset="0"/>
                <a:cs typeface="Times New Roman" panose="02020603050405020304" pitchFamily="18" charset="0"/>
              </a:rPr>
              <a:t>First Page</a:t>
            </a:r>
          </a:p>
        </p:txBody>
      </p:sp>
      <p:sp>
        <p:nvSpPr>
          <p:cNvPr id="3" name="Slide Number Placeholder 2">
            <a:extLst>
              <a:ext uri="{FF2B5EF4-FFF2-40B4-BE49-F238E27FC236}">
                <a16:creationId xmlns:a16="http://schemas.microsoft.com/office/drawing/2014/main" xmlns="" id="{8A2BF940-7B8D-455F-8A58-AC579896FFB0}"/>
              </a:ext>
            </a:extLst>
          </p:cNvPr>
          <p:cNvSpPr>
            <a:spLocks noGrp="1"/>
          </p:cNvSpPr>
          <p:nvPr>
            <p:ph type="sldNum" idx="12"/>
          </p:nvPr>
        </p:nvSpPr>
        <p:spPr>
          <a:xfrm>
            <a:off x="8452883" y="4364567"/>
            <a:ext cx="372139" cy="393600"/>
          </a:xfrm>
        </p:spPr>
        <p:txBody>
          <a:bodyPr/>
          <a:lstStyle/>
          <a:p>
            <a:pPr marL="0" lvl="0" indent="0" algn="r" rtl="0">
              <a:spcBef>
                <a:spcPts val="0"/>
              </a:spcBef>
              <a:spcAft>
                <a:spcPts val="0"/>
              </a:spcAft>
              <a:buNone/>
            </a:pPr>
            <a:fld id="{00000000-1234-1234-1234-123412341234}" type="slidenum">
              <a:rPr lang="en" smtClean="0"/>
              <a:t>18</a:t>
            </a:fld>
            <a:endParaRPr lang="en" dirty="0"/>
          </a:p>
        </p:txBody>
      </p:sp>
      <p:pic>
        <p:nvPicPr>
          <p:cNvPr id="5" name="Picture 4">
            <a:extLst>
              <a:ext uri="{FF2B5EF4-FFF2-40B4-BE49-F238E27FC236}">
                <a16:creationId xmlns:a16="http://schemas.microsoft.com/office/drawing/2014/main" xmlns="" id="{8C183330-FFFE-3C49-A274-E6EB4722039A}"/>
              </a:ext>
            </a:extLst>
          </p:cNvPr>
          <p:cNvPicPr/>
          <p:nvPr/>
        </p:nvPicPr>
        <p:blipFill rotWithShape="1">
          <a:blip r:embed="rId3" cstate="print">
            <a:extLst>
              <a:ext uri="{28A0092B-C50C-407E-A947-70E740481C1C}">
                <a14:useLocalDpi xmlns:a14="http://schemas.microsoft.com/office/drawing/2010/main" val="0"/>
              </a:ext>
            </a:extLst>
          </a:blip>
          <a:srcRect b="34509"/>
          <a:stretch/>
        </p:blipFill>
        <p:spPr>
          <a:xfrm>
            <a:off x="1774161" y="676617"/>
            <a:ext cx="5021846" cy="4159598"/>
          </a:xfrm>
          <a:prstGeom prst="rect">
            <a:avLst/>
          </a:prstGeom>
        </p:spPr>
      </p:pic>
    </p:spTree>
    <p:extLst>
      <p:ext uri="{BB962C8B-B14F-4D97-AF65-F5344CB8AC3E}">
        <p14:creationId xmlns:p14="http://schemas.microsoft.com/office/powerpoint/2010/main" val="2315658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421655" y="307284"/>
            <a:ext cx="1473480" cy="369332"/>
          </a:xfrm>
          <a:prstGeom prst="rect">
            <a:avLst/>
          </a:prstGeom>
        </p:spPr>
        <p:txBody>
          <a:bodyPr wrap="none">
            <a:spAutoFit/>
          </a:bodyPr>
          <a:lstStyle/>
          <a:p>
            <a:r>
              <a:rPr lang="en-US" sz="1800" b="1" dirty="0">
                <a:latin typeface="Times New Roman" panose="02020603050405020304" pitchFamily="18" charset="0"/>
                <a:cs typeface="Times New Roman" panose="02020603050405020304" pitchFamily="18" charset="0"/>
              </a:rPr>
              <a:t>Found Views</a:t>
            </a:r>
          </a:p>
        </p:txBody>
      </p:sp>
      <p:sp>
        <p:nvSpPr>
          <p:cNvPr id="3" name="Slide Number Placeholder 2">
            <a:extLst>
              <a:ext uri="{FF2B5EF4-FFF2-40B4-BE49-F238E27FC236}">
                <a16:creationId xmlns:a16="http://schemas.microsoft.com/office/drawing/2014/main" xmlns="" id="{8A2BF940-7B8D-455F-8A58-AC579896FFB0}"/>
              </a:ext>
            </a:extLst>
          </p:cNvPr>
          <p:cNvSpPr>
            <a:spLocks noGrp="1"/>
          </p:cNvSpPr>
          <p:nvPr>
            <p:ph type="sldNum" idx="12"/>
          </p:nvPr>
        </p:nvSpPr>
        <p:spPr>
          <a:xfrm>
            <a:off x="8431618" y="4409883"/>
            <a:ext cx="372139" cy="393600"/>
          </a:xfrm>
        </p:spPr>
        <p:txBody>
          <a:bodyPr/>
          <a:lstStyle/>
          <a:p>
            <a:pPr marL="0" lvl="0" indent="0" algn="r" rtl="0">
              <a:spcBef>
                <a:spcPts val="0"/>
              </a:spcBef>
              <a:spcAft>
                <a:spcPts val="0"/>
              </a:spcAft>
              <a:buNone/>
            </a:pPr>
            <a:fld id="{00000000-1234-1234-1234-123412341234}" type="slidenum">
              <a:rPr lang="en" smtClean="0"/>
              <a:t>19</a:t>
            </a:fld>
            <a:endParaRPr lang="en" dirty="0"/>
          </a:p>
        </p:txBody>
      </p:sp>
      <p:pic>
        <p:nvPicPr>
          <p:cNvPr id="5" name="Picture 4">
            <a:extLst>
              <a:ext uri="{FF2B5EF4-FFF2-40B4-BE49-F238E27FC236}">
                <a16:creationId xmlns:a16="http://schemas.microsoft.com/office/drawing/2014/main" xmlns="" id="{13097B17-D01C-B444-A0DD-B3AA43E19187}"/>
              </a:ext>
            </a:extLst>
          </p:cNvPr>
          <p:cNvPicPr/>
          <p:nvPr/>
        </p:nvPicPr>
        <p:blipFill>
          <a:blip r:embed="rId3">
            <a:extLst>
              <a:ext uri="{28A0092B-C50C-407E-A947-70E740481C1C}">
                <a14:useLocalDpi xmlns:a14="http://schemas.microsoft.com/office/drawing/2010/main" val="0"/>
              </a:ext>
            </a:extLst>
          </a:blip>
          <a:stretch>
            <a:fillRect/>
          </a:stretch>
        </p:blipFill>
        <p:spPr>
          <a:xfrm>
            <a:off x="991498" y="1065634"/>
            <a:ext cx="7161003" cy="3080470"/>
          </a:xfrm>
          <a:prstGeom prst="rect">
            <a:avLst/>
          </a:prstGeom>
        </p:spPr>
      </p:pic>
    </p:spTree>
    <p:extLst>
      <p:ext uri="{BB962C8B-B14F-4D97-AF65-F5344CB8AC3E}">
        <p14:creationId xmlns:p14="http://schemas.microsoft.com/office/powerpoint/2010/main" val="2659309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613040" y="320407"/>
            <a:ext cx="1758815" cy="338554"/>
          </a:xfrm>
          <a:prstGeom prst="rect">
            <a:avLst/>
          </a:prstGeom>
        </p:spPr>
        <p:txBody>
          <a:bodyPr wrap="none">
            <a:spAutoFit/>
          </a:bodyPr>
          <a:lstStyle/>
          <a:p>
            <a:r>
              <a:rPr lang="en-US" sz="1600" b="1" dirty="0"/>
              <a:t>Lost Posts View</a:t>
            </a:r>
          </a:p>
        </p:txBody>
      </p:sp>
      <p:sp>
        <p:nvSpPr>
          <p:cNvPr id="3" name="Slide Number Placeholder 2">
            <a:extLst>
              <a:ext uri="{FF2B5EF4-FFF2-40B4-BE49-F238E27FC236}">
                <a16:creationId xmlns:a16="http://schemas.microsoft.com/office/drawing/2014/main" xmlns="" id="{8A2BF940-7B8D-455F-8A58-AC579896FFB0}"/>
              </a:ext>
            </a:extLst>
          </p:cNvPr>
          <p:cNvSpPr>
            <a:spLocks noGrp="1"/>
          </p:cNvSpPr>
          <p:nvPr>
            <p:ph type="sldNum" idx="12"/>
          </p:nvPr>
        </p:nvSpPr>
        <p:spPr>
          <a:xfrm>
            <a:off x="8378456" y="4398936"/>
            <a:ext cx="372139" cy="393600"/>
          </a:xfrm>
        </p:spPr>
        <p:txBody>
          <a:bodyPr/>
          <a:lstStyle/>
          <a:p>
            <a:pPr marL="0" lvl="0" indent="0" algn="r" rtl="0">
              <a:spcBef>
                <a:spcPts val="0"/>
              </a:spcBef>
              <a:spcAft>
                <a:spcPts val="0"/>
              </a:spcAft>
              <a:buNone/>
            </a:pPr>
            <a:fld id="{00000000-1234-1234-1234-123412341234}" type="slidenum">
              <a:rPr lang="en" smtClean="0"/>
              <a:t>20</a:t>
            </a:fld>
            <a:endParaRPr lang="en" dirty="0"/>
          </a:p>
        </p:txBody>
      </p:sp>
      <p:pic>
        <p:nvPicPr>
          <p:cNvPr id="5" name="Picture 4">
            <a:extLst>
              <a:ext uri="{FF2B5EF4-FFF2-40B4-BE49-F238E27FC236}">
                <a16:creationId xmlns:a16="http://schemas.microsoft.com/office/drawing/2014/main" xmlns="" id="{97D2A953-B4BB-BB40-BEC4-EE158A044834}"/>
              </a:ext>
            </a:extLst>
          </p:cNvPr>
          <p:cNvPicPr/>
          <p:nvPr/>
        </p:nvPicPr>
        <p:blipFill>
          <a:blip r:embed="rId3">
            <a:extLst>
              <a:ext uri="{28A0092B-C50C-407E-A947-70E740481C1C}">
                <a14:useLocalDpi xmlns:a14="http://schemas.microsoft.com/office/drawing/2010/main" val="0"/>
              </a:ext>
            </a:extLst>
          </a:blip>
          <a:stretch>
            <a:fillRect/>
          </a:stretch>
        </p:blipFill>
        <p:spPr>
          <a:xfrm>
            <a:off x="1190846" y="614362"/>
            <a:ext cx="6762307" cy="3914775"/>
          </a:xfrm>
          <a:prstGeom prst="rect">
            <a:avLst/>
          </a:prstGeom>
        </p:spPr>
      </p:pic>
    </p:spTree>
    <p:extLst>
      <p:ext uri="{BB962C8B-B14F-4D97-AF65-F5344CB8AC3E}">
        <p14:creationId xmlns:p14="http://schemas.microsoft.com/office/powerpoint/2010/main" val="3879120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3708733" y="449039"/>
            <a:ext cx="1838965" cy="369332"/>
          </a:xfrm>
          <a:prstGeom prst="rect">
            <a:avLst/>
          </a:prstGeom>
        </p:spPr>
        <p:txBody>
          <a:bodyPr wrap="none">
            <a:spAutoFit/>
          </a:bodyPr>
          <a:lstStyle/>
          <a:p>
            <a:r>
              <a:rPr lang="en-US" sz="1800" b="1" dirty="0">
                <a:latin typeface="Times New Roman" panose="02020603050405020304" pitchFamily="18" charset="0"/>
                <a:cs typeface="Times New Roman" panose="02020603050405020304" pitchFamily="18" charset="0"/>
              </a:rPr>
              <a:t>Login page View</a:t>
            </a:r>
          </a:p>
        </p:txBody>
      </p:sp>
      <p:sp>
        <p:nvSpPr>
          <p:cNvPr id="3" name="Slide Number Placeholder 2">
            <a:extLst>
              <a:ext uri="{FF2B5EF4-FFF2-40B4-BE49-F238E27FC236}">
                <a16:creationId xmlns:a16="http://schemas.microsoft.com/office/drawing/2014/main" xmlns="" id="{8A2BF940-7B8D-455F-8A58-AC579896FFB0}"/>
              </a:ext>
            </a:extLst>
          </p:cNvPr>
          <p:cNvSpPr>
            <a:spLocks noGrp="1"/>
          </p:cNvSpPr>
          <p:nvPr>
            <p:ph type="sldNum" idx="12"/>
          </p:nvPr>
        </p:nvSpPr>
        <p:spPr>
          <a:xfrm>
            <a:off x="8389088" y="4430835"/>
            <a:ext cx="372139" cy="393600"/>
          </a:xfrm>
        </p:spPr>
        <p:txBody>
          <a:bodyPr/>
          <a:lstStyle/>
          <a:p>
            <a:pPr marL="0" lvl="0" indent="0" algn="r" rtl="0">
              <a:spcBef>
                <a:spcPts val="0"/>
              </a:spcBef>
              <a:spcAft>
                <a:spcPts val="0"/>
              </a:spcAft>
              <a:buNone/>
            </a:pPr>
            <a:fld id="{00000000-1234-1234-1234-123412341234}" type="slidenum">
              <a:rPr lang="en" smtClean="0"/>
              <a:t>21</a:t>
            </a:fld>
            <a:endParaRPr lang="en" dirty="0"/>
          </a:p>
        </p:txBody>
      </p:sp>
      <p:pic>
        <p:nvPicPr>
          <p:cNvPr id="5" name="Picture 4">
            <a:extLst>
              <a:ext uri="{FF2B5EF4-FFF2-40B4-BE49-F238E27FC236}">
                <a16:creationId xmlns:a16="http://schemas.microsoft.com/office/drawing/2014/main" xmlns="" id="{18F02F6D-3B4E-A64C-9639-85D40C454E40}"/>
              </a:ext>
            </a:extLst>
          </p:cNvPr>
          <p:cNvPicPr/>
          <p:nvPr/>
        </p:nvPicPr>
        <p:blipFill>
          <a:blip r:embed="rId3">
            <a:extLst>
              <a:ext uri="{28A0092B-C50C-407E-A947-70E740481C1C}">
                <a14:useLocalDpi xmlns:a14="http://schemas.microsoft.com/office/drawing/2010/main" val="0"/>
              </a:ext>
            </a:extLst>
          </a:blip>
          <a:stretch>
            <a:fillRect/>
          </a:stretch>
        </p:blipFill>
        <p:spPr>
          <a:xfrm>
            <a:off x="639936" y="973388"/>
            <a:ext cx="7780149" cy="3196723"/>
          </a:xfrm>
          <a:prstGeom prst="rect">
            <a:avLst/>
          </a:prstGeom>
        </p:spPr>
      </p:pic>
    </p:spTree>
    <p:extLst>
      <p:ext uri="{BB962C8B-B14F-4D97-AF65-F5344CB8AC3E}">
        <p14:creationId xmlns:p14="http://schemas.microsoft.com/office/powerpoint/2010/main" val="149037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4" name="Rectangle 3">
            <a:extLst>
              <a:ext uri="{FF2B5EF4-FFF2-40B4-BE49-F238E27FC236}">
                <a16:creationId xmlns:a16="http://schemas.microsoft.com/office/drawing/2014/main" xmlns="" id="{EC5DDF85-4386-4C0D-B967-0BEC6F8A94E9}"/>
              </a:ext>
            </a:extLst>
          </p:cNvPr>
          <p:cNvSpPr/>
          <p:nvPr/>
        </p:nvSpPr>
        <p:spPr>
          <a:xfrm>
            <a:off x="2958945" y="653598"/>
            <a:ext cx="2313454" cy="369332"/>
          </a:xfrm>
          <a:prstGeom prst="rect">
            <a:avLst/>
          </a:prstGeom>
        </p:spPr>
        <p:txBody>
          <a:bodyPr wrap="none">
            <a:spAutoFit/>
          </a:bodyPr>
          <a:lstStyle/>
          <a:p>
            <a:r>
              <a:rPr lang="en-US" sz="1800" b="1" dirty="0">
                <a:latin typeface="Times New Roman" panose="02020603050405020304" pitchFamily="18" charset="0"/>
                <a:cs typeface="Times New Roman" panose="02020603050405020304" pitchFamily="18" charset="0"/>
              </a:rPr>
              <a:t>Tools &amp; Technologies</a:t>
            </a:r>
          </a:p>
        </p:txBody>
      </p:sp>
      <p:sp>
        <p:nvSpPr>
          <p:cNvPr id="3" name="Rectangle 2">
            <a:extLst>
              <a:ext uri="{FF2B5EF4-FFF2-40B4-BE49-F238E27FC236}">
                <a16:creationId xmlns:a16="http://schemas.microsoft.com/office/drawing/2014/main" xmlns="" id="{DE3B923C-5B98-4D64-9008-9C1C0A6F8173}"/>
              </a:ext>
            </a:extLst>
          </p:cNvPr>
          <p:cNvSpPr/>
          <p:nvPr/>
        </p:nvSpPr>
        <p:spPr>
          <a:xfrm>
            <a:off x="1414131" y="1448365"/>
            <a:ext cx="5560828" cy="2554545"/>
          </a:xfrm>
          <a:prstGeom prst="rect">
            <a:avLst/>
          </a:prstGeom>
        </p:spPr>
        <p:txBody>
          <a:bodyPr wrap="square">
            <a:spAutoFit/>
          </a:bodyPr>
          <a:lstStyle/>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Python Programming Language (Django Framework)</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Postgre SQL</a:t>
            </a:r>
          </a:p>
          <a:p>
            <a:pPr marL="285750" indent="-28575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HTML5,CSS3,Bootstrap,JavaScript,Jquery</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Lightweight web server</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IDE: Visual Studio Code v 1.27.2 and PyCharm</a:t>
            </a:r>
          </a:p>
          <a:p>
            <a:endParaRPr lang="en-US" sz="16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xmlns="" id="{0815FD58-66C0-4AE3-A52F-328582BF8F03}"/>
              </a:ext>
            </a:extLst>
          </p:cNvPr>
          <p:cNvSpPr>
            <a:spLocks noGrp="1"/>
          </p:cNvSpPr>
          <p:nvPr>
            <p:ph type="sldNum" idx="12"/>
          </p:nvPr>
        </p:nvSpPr>
        <p:spPr>
          <a:xfrm>
            <a:off x="8308221" y="4488356"/>
            <a:ext cx="548700" cy="393600"/>
          </a:xfrm>
        </p:spPr>
        <p:txBody>
          <a:bodyPr/>
          <a:lstStyle/>
          <a:p>
            <a:pPr marL="0" lvl="0" indent="0" algn="r" rtl="0">
              <a:spcBef>
                <a:spcPts val="0"/>
              </a:spcBef>
              <a:spcAft>
                <a:spcPts val="0"/>
              </a:spcAft>
              <a:buNone/>
            </a:pPr>
            <a:fld id="{00000000-1234-1234-1234-123412341234}" type="slidenum">
              <a:rPr lang="en" sz="1050" smtClean="0">
                <a:latin typeface="Times New Roman" panose="02020603050405020304" pitchFamily="18" charset="0"/>
                <a:cs typeface="Times New Roman" panose="02020603050405020304" pitchFamily="18" charset="0"/>
              </a:rPr>
              <a:t>22</a:t>
            </a:fld>
            <a:endParaRPr lang="en"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1913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2" name="TextBox 1">
            <a:extLst>
              <a:ext uri="{FF2B5EF4-FFF2-40B4-BE49-F238E27FC236}">
                <a16:creationId xmlns:a16="http://schemas.microsoft.com/office/drawing/2014/main" xmlns="" id="{A7A7572C-AA28-4322-B1D1-1A6BFD11175F}"/>
              </a:ext>
            </a:extLst>
          </p:cNvPr>
          <p:cNvSpPr txBox="1"/>
          <p:nvPr/>
        </p:nvSpPr>
        <p:spPr>
          <a:xfrm>
            <a:off x="3692929" y="2168557"/>
            <a:ext cx="1739227" cy="523220"/>
          </a:xfrm>
          <a:prstGeom prst="rect">
            <a:avLst/>
          </a:prstGeom>
          <a:noFill/>
        </p:spPr>
        <p:txBody>
          <a:bodyPr wrap="square" rtlCol="0">
            <a:spAutoFit/>
          </a:bodyPr>
          <a:lstStyle/>
          <a:p>
            <a:r>
              <a:rPr lang="en-US" sz="2800" b="1" dirty="0">
                <a:latin typeface="Times New Roman" panose="02020603050405020304" pitchFamily="18" charset="0"/>
                <a:ea typeface="Tahoma" panose="020B0604030504040204" pitchFamily="34" charset="0"/>
                <a:cs typeface="Times New Roman" panose="02020603050405020304" pitchFamily="18" charset="0"/>
              </a:rPr>
              <a:t>Question? </a:t>
            </a:r>
            <a:endParaRPr lang="en-US" sz="16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561D4827-3F70-4E3B-9CE7-D6611317002D}"/>
              </a:ext>
            </a:extLst>
          </p:cNvPr>
          <p:cNvSpPr>
            <a:spLocks noGrp="1"/>
          </p:cNvSpPr>
          <p:nvPr>
            <p:ph type="sldNum" idx="12"/>
          </p:nvPr>
        </p:nvSpPr>
        <p:spPr>
          <a:xfrm>
            <a:off x="8252511" y="4447974"/>
            <a:ext cx="548700" cy="443001"/>
          </a:xfrm>
        </p:spPr>
        <p:txBody>
          <a:bodyPr/>
          <a:lstStyle/>
          <a:p>
            <a:pPr marL="0" lvl="0" indent="0" algn="r" rtl="0">
              <a:spcBef>
                <a:spcPts val="0"/>
              </a:spcBef>
              <a:spcAft>
                <a:spcPts val="0"/>
              </a:spcAft>
              <a:buNone/>
            </a:pPr>
            <a:fld id="{00000000-1234-1234-1234-123412341234}" type="slidenum">
              <a:rPr lang="en" smtClean="0"/>
              <a:t>23</a:t>
            </a:fld>
            <a:endParaRPr lang="en" dirty="0"/>
          </a:p>
        </p:txBody>
      </p:sp>
    </p:spTree>
    <p:extLst>
      <p:ext uri="{BB962C8B-B14F-4D97-AF65-F5344CB8AC3E}">
        <p14:creationId xmlns:p14="http://schemas.microsoft.com/office/powerpoint/2010/main" val="3427794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3" name="Rectangle 2">
            <a:extLst>
              <a:ext uri="{FF2B5EF4-FFF2-40B4-BE49-F238E27FC236}">
                <a16:creationId xmlns:a16="http://schemas.microsoft.com/office/drawing/2014/main" xmlns="" id="{DE3B923C-5B98-4D64-9008-9C1C0A6F8173}"/>
              </a:ext>
            </a:extLst>
          </p:cNvPr>
          <p:cNvSpPr/>
          <p:nvPr/>
        </p:nvSpPr>
        <p:spPr>
          <a:xfrm>
            <a:off x="3599120" y="2093852"/>
            <a:ext cx="2636873" cy="584775"/>
          </a:xfrm>
          <a:prstGeom prst="rect">
            <a:avLst/>
          </a:prstGeom>
        </p:spPr>
        <p:txBody>
          <a:bodyPr wrap="square">
            <a:spAutoFit/>
          </a:bodyPr>
          <a:lstStyle/>
          <a:p>
            <a:r>
              <a:rPr lang="en-US" sz="3200" b="1" dirty="0">
                <a:latin typeface="Times New Roman" panose="02020603050405020304" pitchFamily="18" charset="0"/>
                <a:cs typeface="Times New Roman" panose="02020603050405020304" pitchFamily="18" charset="0"/>
              </a:rPr>
              <a:t>Thank you</a:t>
            </a:r>
          </a:p>
        </p:txBody>
      </p:sp>
      <p:sp>
        <p:nvSpPr>
          <p:cNvPr id="2" name="Slide Number Placeholder 1">
            <a:extLst>
              <a:ext uri="{FF2B5EF4-FFF2-40B4-BE49-F238E27FC236}">
                <a16:creationId xmlns:a16="http://schemas.microsoft.com/office/drawing/2014/main" xmlns="" id="{3CFCE5DB-F375-4D1B-A36B-3A3799F808E9}"/>
              </a:ext>
            </a:extLst>
          </p:cNvPr>
          <p:cNvSpPr>
            <a:spLocks noGrp="1"/>
          </p:cNvSpPr>
          <p:nvPr>
            <p:ph type="sldNum" idx="12"/>
          </p:nvPr>
        </p:nvSpPr>
        <p:spPr>
          <a:xfrm>
            <a:off x="8431619" y="4441175"/>
            <a:ext cx="446568" cy="393600"/>
          </a:xfrm>
        </p:spPr>
        <p:txBody>
          <a:bodyPr/>
          <a:lstStyle/>
          <a:p>
            <a:pPr marL="0" lvl="0" indent="0" algn="r" rtl="0">
              <a:spcBef>
                <a:spcPts val="0"/>
              </a:spcBef>
              <a:spcAft>
                <a:spcPts val="0"/>
              </a:spcAft>
              <a:buNone/>
            </a:pPr>
            <a:fld id="{00000000-1234-1234-1234-123412341234}" type="slidenum">
              <a:rPr lang="en" smtClean="0"/>
              <a:t>24</a:t>
            </a:fld>
            <a:endParaRPr lang="en" dirty="0"/>
          </a:p>
        </p:txBody>
      </p:sp>
    </p:spTree>
    <p:extLst>
      <p:ext uri="{BB962C8B-B14F-4D97-AF65-F5344CB8AC3E}">
        <p14:creationId xmlns:p14="http://schemas.microsoft.com/office/powerpoint/2010/main" val="290734334"/>
      </p:ext>
    </p:extLst>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3193</TotalTime>
  <Words>1690</Words>
  <Application>Microsoft Macintosh PowerPoint</Application>
  <PresentationFormat>On-screen Show (16:9)</PresentationFormat>
  <Paragraphs>339</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Wingdings</vt:lpstr>
      <vt:lpstr>Nunito</vt:lpstr>
      <vt:lpstr>Arial</vt:lpstr>
      <vt:lpstr>Calibri</vt:lpstr>
      <vt:lpstr>Tahoma</vt:lpstr>
      <vt:lpstr>Times New Roman</vt:lpstr>
      <vt:lpstr>Shift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15.0026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108</cp:revision>
  <dcterms:modified xsi:type="dcterms:W3CDTF">2020-06-13T14:50:08Z</dcterms:modified>
</cp:coreProperties>
</file>